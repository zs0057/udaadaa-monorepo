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cb33b8d2f542f2" /><Relationship Type="http://schemas.openxmlformats.org/officeDocument/2006/relationships/extended-properties" Target="/docProps/app.xml" Id="R67b7a14fc19a4f4c" /><Relationship Type="http://schemas.openxmlformats.org/officeDocument/2006/relationships/officeDocument" Target="/ppt/presentation.xml" Id="R64a255b959fd4d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eb50c8cb184850"/>
  </p:sldMasterIdLst>
  <p:notesMasterIdLst>
    <p:notesMasterId xmlns:r="http://schemas.openxmlformats.org/officeDocument/2006/relationships" r:id="R8a2d8a1efc0147b8"/>
  </p:notesMasterIdLst>
  <p:sldIdLst>
    <p:sldId xmlns:r="http://schemas.openxmlformats.org/officeDocument/2006/relationships" id="256" r:id="Re2060b3e3ca14b1e"/>
    <p:sldId xmlns:r="http://schemas.openxmlformats.org/officeDocument/2006/relationships" id="257" r:id="Rfb8bf1c6632e4370"/>
    <p:sldId xmlns:r="http://schemas.openxmlformats.org/officeDocument/2006/relationships" id="258" r:id="R6d36851304834837"/>
    <p:sldId xmlns:r="http://schemas.openxmlformats.org/officeDocument/2006/relationships" id="259" r:id="R973175a74f37422d"/>
    <p:sldId xmlns:r="http://schemas.openxmlformats.org/officeDocument/2006/relationships" id="260" r:id="R0246a8ce78ef4f87"/>
    <p:sldId xmlns:r="http://schemas.openxmlformats.org/officeDocument/2006/relationships" id="261" r:id="R2640923b852348dd"/>
    <p:sldId xmlns:r="http://schemas.openxmlformats.org/officeDocument/2006/relationships" id="262" r:id="R8264c65877c346d9"/>
    <p:sldId xmlns:r="http://schemas.openxmlformats.org/officeDocument/2006/relationships" id="263" r:id="R82a20f400a8640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407e30322e4d85" /><Relationship Type="http://schemas.openxmlformats.org/officeDocument/2006/relationships/slideMaster" Target="/ppt/slideMasters/slideMaster1.xml" Id="R13eb50c8cb184850" /><Relationship Type="http://schemas.openxmlformats.org/officeDocument/2006/relationships/notesMaster" Target="/ppt/notesMasters/notesMaster1.xml" Id="R8a2d8a1efc0147b8" /><Relationship Type="http://schemas.openxmlformats.org/officeDocument/2006/relationships/presProps" Target="/ppt/presProps.xml" Id="R230eb74e2a374bf8" /><Relationship Type="http://schemas.openxmlformats.org/officeDocument/2006/relationships/tableStyles" Target="/ppt/tableStyles.xml" Id="R5ffcd6472bc441ed" /><Relationship Type="http://schemas.openxmlformats.org/officeDocument/2006/relationships/slide" Target="/ppt/slides/slide1.xml" Id="Re2060b3e3ca14b1e" /><Relationship Type="http://schemas.openxmlformats.org/officeDocument/2006/relationships/slide" Target="/ppt/slides/slide2.xml" Id="Rfb8bf1c6632e4370" /><Relationship Type="http://schemas.openxmlformats.org/officeDocument/2006/relationships/slide" Target="/ppt/slides/slide3.xml" Id="R6d36851304834837" /><Relationship Type="http://schemas.openxmlformats.org/officeDocument/2006/relationships/slide" Target="/ppt/slides/slide4.xml" Id="R973175a74f37422d" /><Relationship Type="http://schemas.openxmlformats.org/officeDocument/2006/relationships/slide" Target="/ppt/slides/slide5.xml" Id="R0246a8ce78ef4f87" /><Relationship Type="http://schemas.openxmlformats.org/officeDocument/2006/relationships/slide" Target="/ppt/slides/slide6.xml" Id="R2640923b852348dd" /><Relationship Type="http://schemas.openxmlformats.org/officeDocument/2006/relationships/slide" Target="/ppt/slides/slide7.xml" Id="R8264c65877c346d9" /><Relationship Type="http://schemas.openxmlformats.org/officeDocument/2006/relationships/slide" Target="/ppt/slides/slide8.xml" Id="R82a20f400a8640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af4037deaf46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b9172895d949ea" /><Relationship Type="http://schemas.openxmlformats.org/officeDocument/2006/relationships/notesMaster" Target="/ppt/notesMasters/notesMaster1.xml" Id="R33811b665fc344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57e22720884b18" /><Relationship Type="http://schemas.openxmlformats.org/officeDocument/2006/relationships/notesMaster" Target="/ppt/notesMasters/notesMaster1.xml" Id="R501a2b0c813644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a3f7dc336d4a40" /><Relationship Type="http://schemas.openxmlformats.org/officeDocument/2006/relationships/notesMaster" Target="/ppt/notesMasters/notesMaster1.xml" Id="R109765e9444d4a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44eea8b7e04b6c" /><Relationship Type="http://schemas.openxmlformats.org/officeDocument/2006/relationships/notesMaster" Target="/ppt/notesMasters/notesMaster1.xml" Id="R106fddc522e948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d6740362aa4a3d" /><Relationship Type="http://schemas.openxmlformats.org/officeDocument/2006/relationships/notesMaster" Target="/ppt/notesMasters/notesMaster1.xml" Id="Reb452362df9f4a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7efcb78cfe45fc" /><Relationship Type="http://schemas.openxmlformats.org/officeDocument/2006/relationships/notesMaster" Target="/ppt/notesMasters/notesMaster1.xml" Id="Rfab194faf81241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b6df2f52454e18" /><Relationship Type="http://schemas.openxmlformats.org/officeDocument/2006/relationships/notesMaster" Target="/ppt/notesMasters/notesMaster1.xml" Id="R86aae2d99d484a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da8e88a2234379" /><Relationship Type="http://schemas.openxmlformats.org/officeDocument/2006/relationships/notesMaster" Target="/ppt/notesMasters/notesMaster1.xml" Id="R5597ba578e744e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/Users/zs/udaadaa_migration/README.md</a:t>
            </a:r>
          </a:p>
          <a:p xmlns:a="http://schemas.openxmlformats.org/drawingml/2006/main">
            <a:r>
              <a:t>- /Users/zs/udaadaa_migration/docs/migration/00-overview.md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/Users/zs/udaadaa_migration/docs/migration/00-overview.md</a:t>
            </a:r>
          </a:p>
          <a:p xmlns:a="http://schemas.openxmlformats.org/drawingml/2006/main">
            <a:r>
              <a:t>- /Users/zs/udaadaa_migration/docs/migration/02-as-is-architecture.md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/Users/zs/udaadaa_migration/docs/migration/adr/ADR-002-infrastructure-technical-review.md</a:t>
            </a:r>
          </a:p>
          <a:p xmlns:a="http://schemas.openxmlformats.org/drawingml/2006/main">
            <a:r>
              <a:t>- /Users/zs/udaadaa_migration/docs/migration/adr/ADR-003-supabase-spring-compatibility.md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/Users/zs/udaadaa_migration/docs/migration/adr/ADR-001-initial-technical-decisions.md</a:t>
            </a:r>
          </a:p>
          <a:p xmlns:a="http://schemas.openxmlformats.org/drawingml/2006/main">
            <a:r>
              <a:t>- /Users/zs/udaadaa_migration/docs/migration/phases/phase-00-foundation.md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/Users/zs/udaadaa_migration/docs/migration/03-domain-boundaries.md</a:t>
            </a:r>
          </a:p>
          <a:p xmlns:a="http://schemas.openxmlformats.org/drawingml/2006/main">
            <a:r>
              <a:t>- /Users/zs/udaadaa_migration/docs/migration/04-to-be-architecture.md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/Users/zs/udaadaa_migration/docs/migration/phases/phase-01-member.md</a:t>
            </a:r>
          </a:p>
          <a:p xmlns:a="http://schemas.openxmlformats.org/drawingml/2006/main">
            <a:r>
              <a:t>- /Users/zs/udaadaa_migration/udaadaa_server/src/main/java/com/udaadaa/member/</a:t>
            </a:r>
          </a:p>
          <a:p xmlns:a="http://schemas.openxmlformats.org/drawingml/2006/main">
            <a:r>
              <a:t>- /Users/zs/udaadaa_migration/udaadaa_server/src/main/java/com/udaadaa/common/security/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/Users/zs/udaadaa_migration/docs/migration/05-migration-roadmap.md</a:t>
            </a:r>
          </a:p>
          <a:p xmlns:a="http://schemas.openxmlformats.org/drawingml/2006/main">
            <a:r>
              <a:t>- /Users/zs/udaadaa_migration/docs/migration/phases/phase-00-foundation.md</a:t>
            </a:r>
          </a:p>
          <a:p xmlns:a="http://schemas.openxmlformats.org/drawingml/2006/main">
            <a:r>
              <a:t>- /Users/zs/udaadaa_migration/docs/migration/phases/phase-01-member.md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/Users/zs/udaadaa_migration/docs/migration/phases/phase-00-verification.md</a:t>
            </a:r>
          </a:p>
          <a:p xmlns:a="http://schemas.openxmlformats.org/drawingml/2006/main">
            <a:r>
              <a:t>- /Users/zs/udaadaa_migration/docs/migration/phases/phase-01-member.md</a:t>
            </a:r>
          </a:p>
          <a:p xmlns:a="http://schemas.openxmlformats.org/drawingml/2006/main">
            <a:r>
              <a:t>- /Users/zs/udaadaa_migration/udaadaa_server/build/test-results/test/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7cb7d91f1545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54950b50f243a9" /><Relationship Type="http://schemas.openxmlformats.org/officeDocument/2006/relationships/slideLayout" Target="/ppt/slideLayouts/slideLayout1.xml" Id="R807e0529bdc04b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7e0529bdc04b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6c4c1c8ab4940" /><Relationship Type="http://schemas.openxmlformats.org/officeDocument/2006/relationships/notesSlide" Target="/ppt/notesSlides/notesSlide1.xml" Id="R4f7eb787cedb4f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acae9a4e64e8e" /><Relationship Type="http://schemas.openxmlformats.org/officeDocument/2006/relationships/notesSlide" Target="/ppt/notesSlides/notesSlide2.xml" Id="R7031d05f444f4c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2c34ca1c3b4750" /><Relationship Type="http://schemas.openxmlformats.org/officeDocument/2006/relationships/notesSlide" Target="/ppt/notesSlides/notesSlide3.xml" Id="R2acf3940e9c04d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14b369b174adb" /><Relationship Type="http://schemas.openxmlformats.org/officeDocument/2006/relationships/notesSlide" Target="/ppt/notesSlides/notesSlide4.xml" Id="Rd93c21c055c847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f1f351e0b4b13" /><Relationship Type="http://schemas.openxmlformats.org/officeDocument/2006/relationships/notesSlide" Target="/ppt/notesSlides/notesSlide5.xml" Id="Rf92662767fee46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d9d9797b44de0" /><Relationship Type="http://schemas.openxmlformats.org/officeDocument/2006/relationships/notesSlide" Target="/ppt/notesSlides/notesSlide6.xml" Id="R248381274ff743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2e58745a34eb5" /><Relationship Type="http://schemas.openxmlformats.org/officeDocument/2006/relationships/notesSlide" Target="/ppt/notesSlides/notesSlide7.xml" Id="Rc63d4cf8273940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0fdffdeae4081" /><Relationship Type="http://schemas.openxmlformats.org/officeDocument/2006/relationships/notesSlide" Target="/ppt/notesSlides/notesSlide8.xml" Id="R610382f005324e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ule-0-0">
            <a:extLst xmlns:a="http://schemas.openxmlformats.org/drawingml/2006/main">
              <a:ext uri="{FF2B5EF4-FFF2-40B4-BE49-F238E27FC236}">
                <a16:creationId xmlns:a16="http://schemas.microsoft.com/office/drawing/2014/main" id="{E42CA2A2-121C-418E-9864-4B7CCC12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CF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ule-18-0">
            <a:extLst xmlns:a="http://schemas.openxmlformats.org/drawingml/2006/main">
              <a:ext uri="{FF2B5EF4-FFF2-40B4-BE49-F238E27FC236}">
                <a16:creationId xmlns:a16="http://schemas.microsoft.com/office/drawing/2014/main" id="{63668E75-8422-44FA-B1B0-C6D96FD7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B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16D52CE6-145F-489A-B81B-D98A28E2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58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ECF8E"/>
                </a:solidFill>
              </a:defRPr>
            </a:pPr>
            <a:r>
              <a:rPr sz="1275" b="1">
                <a:solidFill>
                  <a:srgbClr val="3ECF8E"/>
                </a:solidFill>
              </a:rPr>
              <a:t>BACKEND MIGRATION · PORTFOLIO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A757748-72E0-441D-B404-1458AF4B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7239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7FAFC"/>
                </a:solidFill>
              </a:defRPr>
            </a:pPr>
            <a:r>
              <a:rPr sz="4650" b="1">
                <a:solidFill>
                  <a:srgbClr val="F7FAFC"/>
                </a:solidFill>
              </a:rPr>
              <a:t>Udaadaa</a:t>
            </a:r>
          </a:p>
          <a:p xmlns:a="http://schemas.openxmlformats.org/drawingml/2006/main">
            <a:pPr algn="l">
              <a:defRPr sz="4650" b="1">
                <a:solidFill>
                  <a:srgbClr val="F7FAFC"/>
                </a:solidFill>
              </a:defRPr>
            </a:pPr>
            <a:r>
              <a:rPr sz="4650" b="1">
                <a:solidFill>
                  <a:srgbClr val="F7FAFC"/>
                </a:solidFill>
              </a:rPr>
              <a:t>Backend Migration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180F2F9-EE64-4EFD-B469-5B5C10B1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8B3C7"/>
                </a:solidFill>
              </a:defRPr>
            </a:pPr>
            <a:r>
              <a:rPr sz="2175" b="0">
                <a:solidFill>
                  <a:srgbClr val="A8B3C7"/>
                </a:solidFill>
              </a:rPr>
              <a:t>Supabase 중심 구조에서</a:t>
            </a:r>
          </a:p>
          <a:p xmlns:a="http://schemas.openxmlformats.org/drawingml/2006/main">
            <a:pPr algn="l">
              <a:defRPr sz="2175" b="0">
                <a:solidFill>
                  <a:srgbClr val="A8B3C7"/>
                </a:solidFill>
              </a:defRPr>
            </a:pPr>
            <a:r>
              <a:rPr sz="2175" b="0">
                <a:solidFill>
                  <a:srgbClr val="A8B3C7"/>
                </a:solidFill>
              </a:rPr>
              <a:t>Spring 모듈형 모놀리스로</a:t>
            </a:r>
          </a:p>
        </p:txBody>
      </p:sp>
      <p:sp>
        <p:nvSpPr>
          <p:cNvPr id="6" name="rule-84-505">
            <a:extLst xmlns:a="http://schemas.openxmlformats.org/drawingml/2006/main">
              <a:ext uri="{FF2B5EF4-FFF2-40B4-BE49-F238E27FC236}">
                <a16:creationId xmlns:a16="http://schemas.microsoft.com/office/drawing/2014/main" id="{D924B456-7ABD-4AA0-9CD2-2429D82B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2457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CF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stack">
            <a:extLst xmlns:a="http://schemas.openxmlformats.org/drawingml/2006/main">
              <a:ext uri="{FF2B5EF4-FFF2-40B4-BE49-F238E27FC236}">
                <a16:creationId xmlns:a16="http://schemas.microsoft.com/office/drawing/2014/main" id="{3BCB13E5-5572-4F67-8F42-A6999832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AFC"/>
                </a:solidFill>
              </a:defRPr>
            </a:pPr>
            <a:r>
              <a:rPr sz="1425" b="0">
                <a:solidFill>
                  <a:srgbClr val="F7FAFC"/>
                </a:solidFill>
              </a:rPr>
              <a:t>Flutter  ·  Spring Boot  ·  PostgreSQL  ·  STOMP</a:t>
            </a:r>
          </a:p>
        </p:txBody>
      </p:sp>
      <p:sp>
        <p:nvSpPr>
          <p:cNvPr id="8" name="cover-message">
            <a:extLst xmlns:a="http://schemas.openxmlformats.org/drawingml/2006/main">
              <a:ext uri="{FF2B5EF4-FFF2-40B4-BE49-F238E27FC236}">
                <a16:creationId xmlns:a16="http://schemas.microsoft.com/office/drawing/2014/main" id="{CAB5E4D3-D96C-4EBB-A68C-314FE08B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828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3C7"/>
                </a:solidFill>
              </a:defRPr>
            </a:pPr>
            <a:r>
              <a:rPr sz="1275" b="0">
                <a:solidFill>
                  <a:srgbClr val="A8B3C7"/>
                </a:solidFill>
              </a:rPr>
              <a:t>운영을 멈추지 않고, 서비스 제어권을 단계적으로 회수하다</a:t>
            </a:r>
          </a:p>
        </p:txBody>
      </p:sp>
      <p:sp>
        <p:nvSpPr>
          <p:cNvPr id="9" name="cover-year">
            <a:extLst xmlns:a="http://schemas.openxmlformats.org/drawingml/2006/main">
              <a:ext uri="{FF2B5EF4-FFF2-40B4-BE49-F238E27FC236}">
                <a16:creationId xmlns:a16="http://schemas.microsoft.com/office/drawing/2014/main" id="{6ECBBC4C-944E-4B82-BDB1-01E0F03A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05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0708A"/>
                </a:solidFill>
              </a:defRPr>
            </a:pPr>
            <a:r>
              <a:rPr sz="1200" b="1">
                <a:solidFill>
                  <a:srgbClr val="60708A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4653543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no-2">
            <a:extLst xmlns:a="http://schemas.openxmlformats.org/drawingml/2006/main">
              <a:ext uri="{FF2B5EF4-FFF2-40B4-BE49-F238E27FC236}">
                <a16:creationId xmlns:a16="http://schemas.microsoft.com/office/drawing/2014/main" id="{4DBB1D31-884B-4D66-9FA8-115A83DA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ECF8E"/>
                </a:solidFill>
              </a:defRPr>
            </a:pPr>
            <a:r>
              <a:rPr sz="1125" b="1">
                <a:solidFill>
                  <a:srgbClr val="3ECF8E"/>
                </a:solidFill>
              </a:rPr>
              <a:t>02</a:t>
            </a:r>
          </a:p>
        </p:txBody>
      </p:sp>
      <p:sp>
        <p:nvSpPr>
          <p:cNvPr id="2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D95E5971-1F9C-4933-9CB0-A6F0EFEE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AFC"/>
                </a:solidFill>
              </a:defRPr>
            </a:pPr>
            <a:r>
              <a:rPr sz="2850" b="1">
                <a:solidFill>
                  <a:srgbClr val="F7FAFC"/>
                </a:solidFill>
              </a:rPr>
              <a:t>빠른 출시를 만든 구조가 운영 제어의 한계가 됐다</a:t>
            </a:r>
          </a:p>
        </p:txBody>
      </p:sp>
      <p:sp>
        <p:nvSpPr>
          <p:cNvPr id="3" name="slide-subtitle-2">
            <a:extLst xmlns:a="http://schemas.openxmlformats.org/drawingml/2006/main">
              <a:ext uri="{FF2B5EF4-FFF2-40B4-BE49-F238E27FC236}">
                <a16:creationId xmlns:a16="http://schemas.microsoft.com/office/drawing/2014/main" id="{FFDECD3B-E25E-4AA9-BC3F-0F0F480C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3C7"/>
                </a:solidFill>
              </a:defRPr>
            </a:pPr>
            <a:r>
              <a:rPr sz="1425" b="0">
                <a:solidFill>
                  <a:srgbClr val="A8B3C7"/>
                </a:solidFill>
              </a:rPr>
              <a:t>Flutter가 여러 Supabase 구성요소를 직접 호출하며 책임과 관찰 지점이 분산됐다.</a:t>
            </a:r>
          </a:p>
        </p:txBody>
      </p:sp>
      <p:sp>
        <p:nvSpPr>
          <p:cNvPr id="4" name="rule-68-194">
            <a:extLst xmlns:a="http://schemas.openxmlformats.org/drawingml/2006/main">
              <a:ext uri="{FF2B5EF4-FFF2-40B4-BE49-F238E27FC236}">
                <a16:creationId xmlns:a16="http://schemas.microsoft.com/office/drawing/2014/main" id="{CF5E019B-30EE-494B-949E-881114F4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216-350">
            <a:extLst xmlns:a="http://schemas.openxmlformats.org/drawingml/2006/main">
              <a:ext uri="{FF2B5EF4-FFF2-40B4-BE49-F238E27FC236}">
                <a16:creationId xmlns:a16="http://schemas.microsoft.com/office/drawing/2014/main" id="{2E9B8661-A0A6-4056-BA86-DB67A0F1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33750"/>
            <a:ext cx="5857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826-270">
            <a:extLst xmlns:a="http://schemas.openxmlformats.org/drawingml/2006/main">
              <a:ext uri="{FF2B5EF4-FFF2-40B4-BE49-F238E27FC236}">
                <a16:creationId xmlns:a16="http://schemas.microsoft.com/office/drawing/2014/main" id="{AC6C2E4B-B8D7-444A-A8B0-E15CC7C5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71750"/>
            <a:ext cx="381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lutter-box">
            <a:extLst xmlns:a="http://schemas.openxmlformats.org/drawingml/2006/main">
              <a:ext uri="{FF2B5EF4-FFF2-40B4-BE49-F238E27FC236}">
                <a16:creationId xmlns:a16="http://schemas.microsoft.com/office/drawing/2014/main" id="{6846155C-C056-450E-BA84-729F153E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619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304A"/>
          </a:solidFill>
          <a:ln xmlns:a="http://schemas.openxmlformats.org/drawingml/2006/main" w="9525">
            <a:solidFill>
              <a:srgbClr val="60708A"/>
            </a:solidFill>
            <a:prstDash val="solid"/>
          </a:ln>
        </p:spPr>
      </p:sp>
      <p:sp>
        <p:nvSpPr>
          <p:cNvPr id="8" name="flutter-text">
            <a:extLst xmlns:a="http://schemas.openxmlformats.org/drawingml/2006/main">
              <a:ext uri="{FF2B5EF4-FFF2-40B4-BE49-F238E27FC236}">
                <a16:creationId xmlns:a16="http://schemas.microsoft.com/office/drawing/2014/main" id="{3C054939-5181-4C49-9B26-8172A930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42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7FAFC"/>
                </a:solidFill>
              </a:defRPr>
            </a:pPr>
            <a:r>
              <a:rPr sz="1875" b="1">
                <a:solidFill>
                  <a:srgbClr val="F7FAFC"/>
                </a:solidFill>
              </a:rPr>
              <a:t>Flutter</a:t>
            </a:r>
          </a:p>
        </p:txBody>
      </p:sp>
      <p:sp>
        <p:nvSpPr>
          <p:cNvPr id="9" name="db-box">
            <a:extLst xmlns:a="http://schemas.openxmlformats.org/drawingml/2006/main">
              <a:ext uri="{FF2B5EF4-FFF2-40B4-BE49-F238E27FC236}">
                <a16:creationId xmlns:a16="http://schemas.microsoft.com/office/drawing/2014/main" id="{4E72DFE3-F4C3-448C-B31C-6A611B63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14668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7304A"/>
          </a:solidFill>
          <a:ln xmlns:a="http://schemas.openxmlformats.org/drawingml/2006/main" w="9525">
            <a:solidFill>
              <a:srgbClr val="60708A"/>
            </a:solidFill>
            <a:prstDash val="solid"/>
          </a:ln>
        </p:spPr>
      </p:sp>
      <p:sp>
        <p:nvSpPr>
          <p:cNvPr id="10" name="db-text">
            <a:extLst xmlns:a="http://schemas.openxmlformats.org/drawingml/2006/main">
              <a:ext uri="{FF2B5EF4-FFF2-40B4-BE49-F238E27FC236}">
                <a16:creationId xmlns:a16="http://schemas.microsoft.com/office/drawing/2014/main" id="{1E36D68E-7911-45DE-848F-42983EC3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336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ECF8E"/>
                </a:solidFill>
              </a:defRPr>
            </a:pPr>
            <a:r>
              <a:rPr sz="1425" b="1">
                <a:solidFill>
                  <a:srgbClr val="3ECF8E"/>
                </a:solidFill>
              </a:rPr>
              <a:t>Database</a:t>
            </a:r>
          </a:p>
        </p:txBody>
      </p:sp>
      <p:sp>
        <p:nvSpPr>
          <p:cNvPr id="11" name="auth-box">
            <a:extLst xmlns:a="http://schemas.openxmlformats.org/drawingml/2006/main">
              <a:ext uri="{FF2B5EF4-FFF2-40B4-BE49-F238E27FC236}">
                <a16:creationId xmlns:a16="http://schemas.microsoft.com/office/drawing/2014/main" id="{C0E9EDB2-C484-47C2-9418-85E94E45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81300"/>
            <a:ext cx="14668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7304A"/>
          </a:solidFill>
          <a:ln xmlns:a="http://schemas.openxmlformats.org/drawingml/2006/main" w="9525">
            <a:solidFill>
              <a:srgbClr val="60708A"/>
            </a:solidFill>
            <a:prstDash val="solid"/>
          </a:ln>
        </p:spPr>
      </p:sp>
      <p:sp>
        <p:nvSpPr>
          <p:cNvPr id="12" name="auth-text">
            <a:extLst xmlns:a="http://schemas.openxmlformats.org/drawingml/2006/main">
              <a:ext uri="{FF2B5EF4-FFF2-40B4-BE49-F238E27FC236}">
                <a16:creationId xmlns:a16="http://schemas.microsoft.com/office/drawing/2014/main" id="{644F79A0-9B25-410D-AB6F-F93DF07A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194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ECF8E"/>
                </a:solidFill>
              </a:defRPr>
            </a:pPr>
            <a:r>
              <a:rPr sz="1425" b="1">
                <a:solidFill>
                  <a:srgbClr val="3ECF8E"/>
                </a:solidFill>
              </a:rPr>
              <a:t>Auth</a:t>
            </a:r>
          </a:p>
        </p:txBody>
      </p:sp>
      <p:sp>
        <p:nvSpPr>
          <p:cNvPr id="13" name="realtime-box">
            <a:extLst xmlns:a="http://schemas.openxmlformats.org/drawingml/2006/main">
              <a:ext uri="{FF2B5EF4-FFF2-40B4-BE49-F238E27FC236}">
                <a16:creationId xmlns:a16="http://schemas.microsoft.com/office/drawing/2014/main" id="{14009F29-5A9B-425A-BDFB-8AE34CAA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67100"/>
            <a:ext cx="14668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7304A"/>
          </a:solidFill>
          <a:ln xmlns:a="http://schemas.openxmlformats.org/drawingml/2006/main" w="9525">
            <a:solidFill>
              <a:srgbClr val="60708A"/>
            </a:solidFill>
            <a:prstDash val="solid"/>
          </a:ln>
        </p:spPr>
      </p:sp>
      <p:sp>
        <p:nvSpPr>
          <p:cNvPr id="14" name="realtime-text">
            <a:extLst xmlns:a="http://schemas.openxmlformats.org/drawingml/2006/main">
              <a:ext uri="{FF2B5EF4-FFF2-40B4-BE49-F238E27FC236}">
                <a16:creationId xmlns:a16="http://schemas.microsoft.com/office/drawing/2014/main" id="{204A1E5C-DBC9-426B-BA23-5B6D6251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052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ECF8E"/>
                </a:solidFill>
              </a:defRPr>
            </a:pPr>
            <a:r>
              <a:rPr sz="1425" b="1">
                <a:solidFill>
                  <a:srgbClr val="3ECF8E"/>
                </a:solidFill>
              </a:rPr>
              <a:t>Realtime</a:t>
            </a:r>
          </a:p>
        </p:txBody>
      </p:sp>
      <p:sp>
        <p:nvSpPr>
          <p:cNvPr id="15" name="storage-box">
            <a:extLst xmlns:a="http://schemas.openxmlformats.org/drawingml/2006/main">
              <a:ext uri="{FF2B5EF4-FFF2-40B4-BE49-F238E27FC236}">
                <a16:creationId xmlns:a16="http://schemas.microsoft.com/office/drawing/2014/main" id="{43EEC1B1-1FBE-4A98-8E2A-FC61F982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52900"/>
            <a:ext cx="14668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7304A"/>
          </a:solidFill>
          <a:ln xmlns:a="http://schemas.openxmlformats.org/drawingml/2006/main" w="9525">
            <a:solidFill>
              <a:srgbClr val="60708A"/>
            </a:solidFill>
            <a:prstDash val="solid"/>
          </a:ln>
        </p:spPr>
      </p:sp>
      <p:sp>
        <p:nvSpPr>
          <p:cNvPr id="16" name="storage-text">
            <a:extLst xmlns:a="http://schemas.openxmlformats.org/drawingml/2006/main">
              <a:ext uri="{FF2B5EF4-FFF2-40B4-BE49-F238E27FC236}">
                <a16:creationId xmlns:a16="http://schemas.microsoft.com/office/drawing/2014/main" id="{CFA1444D-5D71-450C-992C-338B0252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910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ECF8E"/>
                </a:solidFill>
              </a:defRPr>
            </a:pPr>
            <a:r>
              <a:rPr sz="1425" b="1">
                <a:solidFill>
                  <a:srgbClr val="3ECF8E"/>
                </a:solidFill>
              </a:rPr>
              <a:t>Storage</a:t>
            </a:r>
          </a:p>
        </p:txBody>
      </p:sp>
      <p:sp>
        <p:nvSpPr>
          <p:cNvPr id="17" name="direct-label">
            <a:extLst xmlns:a="http://schemas.openxmlformats.org/drawingml/2006/main">
              <a:ext uri="{FF2B5EF4-FFF2-40B4-BE49-F238E27FC236}">
                <a16:creationId xmlns:a16="http://schemas.microsoft.com/office/drawing/2014/main" id="{B0165A74-F671-491B-BC7D-F00C5CDF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908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C948"/>
                </a:solidFill>
              </a:defRPr>
            </a:pPr>
            <a:r>
              <a:rPr sz="1275" b="1">
                <a:solidFill>
                  <a:srgbClr val="F7C948"/>
                </a:solidFill>
              </a:rPr>
              <a:t>직접 접근</a:t>
            </a:r>
          </a:p>
        </p:txBody>
      </p:sp>
      <p:sp>
        <p:nvSpPr>
          <p:cNvPr id="18" name="issue-a-n">
            <a:extLst xmlns:a="http://schemas.openxmlformats.org/drawingml/2006/main">
              <a:ext uri="{FF2B5EF4-FFF2-40B4-BE49-F238E27FC236}">
                <a16:creationId xmlns:a16="http://schemas.microsoft.com/office/drawing/2014/main" id="{272C445D-4D4C-4F51-B18D-610517D1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1526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6B"/>
                </a:solidFill>
              </a:defRPr>
            </a:pPr>
            <a:r>
              <a:rPr sz="1275" b="1">
                <a:solidFill>
                  <a:srgbClr val="FF6B6B"/>
                </a:solidFill>
              </a:rPr>
              <a:t>01</a:t>
            </a:r>
          </a:p>
        </p:txBody>
      </p:sp>
      <p:sp>
        <p:nvSpPr>
          <p:cNvPr id="19" name="issue-a">
            <a:extLst xmlns:a="http://schemas.openxmlformats.org/drawingml/2006/main">
              <a:ext uri="{FF2B5EF4-FFF2-40B4-BE49-F238E27FC236}">
                <a16:creationId xmlns:a16="http://schemas.microsoft.com/office/drawing/2014/main" id="{AC6587CE-43D7-4C34-A3D2-0C865EE2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04787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채팅 지연 구간을</a:t>
            </a:r>
          </a:p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한곳에서 추적하기 어려움</a:t>
            </a:r>
          </a:p>
        </p:txBody>
      </p:sp>
      <p:sp>
        <p:nvSpPr>
          <p:cNvPr id="20" name="issue-b-n">
            <a:extLst xmlns:a="http://schemas.openxmlformats.org/drawingml/2006/main">
              <a:ext uri="{FF2B5EF4-FFF2-40B4-BE49-F238E27FC236}">
                <a16:creationId xmlns:a16="http://schemas.microsoft.com/office/drawing/2014/main" id="{CB36CD41-2D8D-4663-B538-D191A766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1813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6B"/>
                </a:solidFill>
              </a:defRPr>
            </a:pPr>
            <a:r>
              <a:rPr sz="1275" b="1">
                <a:solidFill>
                  <a:srgbClr val="FF6B6B"/>
                </a:solidFill>
              </a:rPr>
              <a:t>02</a:t>
            </a:r>
          </a:p>
        </p:txBody>
      </p:sp>
      <p:sp>
        <p:nvSpPr>
          <p:cNvPr id="21" name="issue-b">
            <a:extLst xmlns:a="http://schemas.openxmlformats.org/drawingml/2006/main">
              <a:ext uri="{FF2B5EF4-FFF2-40B4-BE49-F238E27FC236}">
                <a16:creationId xmlns:a16="http://schemas.microsoft.com/office/drawing/2014/main" id="{DB18115A-E58E-41EF-B4F3-C3DD1E7C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07657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재연결·누락 복구 정책이</a:t>
            </a:r>
          </a:p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클라이언트에 분산</a:t>
            </a:r>
          </a:p>
        </p:txBody>
      </p:sp>
      <p:sp>
        <p:nvSpPr>
          <p:cNvPr id="22" name="issue-c-n">
            <a:extLst xmlns:a="http://schemas.openxmlformats.org/drawingml/2006/main">
              <a:ext uri="{FF2B5EF4-FFF2-40B4-BE49-F238E27FC236}">
                <a16:creationId xmlns:a16="http://schemas.microsoft.com/office/drawing/2014/main" id="{A66AB4D4-9A68-43BC-BF61-C466058E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2100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6B"/>
                </a:solidFill>
              </a:defRPr>
            </a:pPr>
            <a:r>
              <a:rPr sz="1275" b="1">
                <a:solidFill>
                  <a:srgbClr val="FF6B6B"/>
                </a:solidFill>
              </a:rPr>
              <a:t>03</a:t>
            </a:r>
          </a:p>
        </p:txBody>
      </p:sp>
      <p:sp>
        <p:nvSpPr>
          <p:cNvPr id="23" name="issue-c">
            <a:extLst xmlns:a="http://schemas.openxmlformats.org/drawingml/2006/main">
              <a:ext uri="{FF2B5EF4-FFF2-40B4-BE49-F238E27FC236}">
                <a16:creationId xmlns:a16="http://schemas.microsoft.com/office/drawing/2014/main" id="{D3558962-7379-4B89-9666-F2B8FE9E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10527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UI·RLS·Function에</a:t>
            </a:r>
          </a:p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비즈니스 규칙이 혼재</a:t>
            </a:r>
          </a:p>
        </p:txBody>
      </p:sp>
      <p:sp>
        <p:nvSpPr>
          <p:cNvPr id="24" name="problem-callout">
            <a:extLst xmlns:a="http://schemas.openxmlformats.org/drawingml/2006/main">
              <a:ext uri="{FF2B5EF4-FFF2-40B4-BE49-F238E27FC236}">
                <a16:creationId xmlns:a16="http://schemas.microsoft.com/office/drawing/2014/main" id="{3365240F-BC59-45FC-9174-772D0AC2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79248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243B"/>
          </a:solidFill>
          <a:ln xmlns:a="http://schemas.openxmlformats.org/drawingml/2006/main" w="9525">
            <a:solidFill>
              <a:srgbClr val="60708A"/>
            </a:solidFill>
            <a:prstDash val="solid"/>
          </a:ln>
        </p:spPr>
      </p:sp>
      <p:sp>
        <p:nvSpPr>
          <p:cNvPr id="25" name="problem-callout-text">
            <a:extLst xmlns:a="http://schemas.openxmlformats.org/drawingml/2006/main">
              <a:ext uri="{FF2B5EF4-FFF2-40B4-BE49-F238E27FC236}">
                <a16:creationId xmlns:a16="http://schemas.microsoft.com/office/drawing/2014/main" id="{011A67A5-4EC0-4347-9E3A-F03420F6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</a:defRPr>
            </a:pPr>
            <a:r>
              <a:rPr sz="1500" b="1">
                <a:solidFill>
                  <a:srgbClr val="F7FAFC"/>
                </a:solidFill>
              </a:rPr>
              <a:t>사용자 피드백: 채팅 전송·수신이 간헐적으로 느림</a:t>
            </a:r>
          </a:p>
          <a:p xmlns:a="http://schemas.openxmlformats.org/drawingml/2006/main">
            <a:pPr algn="l">
              <a:defRPr sz="1500" b="1">
                <a:solidFill>
                  <a:srgbClr val="F7FAFC"/>
                </a:solidFill>
              </a:defRPr>
            </a:pPr>
            <a:r>
              <a:rPr sz="1500" b="1">
                <a:solidFill>
                  <a:srgbClr val="F7FAFC"/>
                </a:solidFill>
              </a:rPr>
              <a:t>문제는 단일 기술이 아니라, 관찰과 복구를 통합할 서버가 없다는 점</a:t>
            </a:r>
          </a:p>
        </p:txBody>
      </p:sp>
      <p:sp>
        <p:nvSpPr>
          <p:cNvPr id="26" name="footer-2">
            <a:extLst xmlns:a="http://schemas.openxmlformats.org/drawingml/2006/main">
              <a:ext uri="{FF2B5EF4-FFF2-40B4-BE49-F238E27FC236}">
                <a16:creationId xmlns:a16="http://schemas.microsoft.com/office/drawing/2014/main" id="{9377B376-BFB5-4C8B-B584-1AFCD0F0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UDAADAA · BACKEND MIGRATION</a:t>
            </a:r>
          </a:p>
        </p:txBody>
      </p:sp>
      <p:sp>
        <p:nvSpPr>
          <p:cNvPr id="27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EE39073C-A6BB-489E-A131-C957879E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2 / 8</a:t>
            </a:r>
          </a:p>
        </p:txBody>
      </p:sp>
    </p:spTree>
    <p:extLst>
      <p:ext uri="{BB962C8B-B14F-4D97-AF65-F5344CB8AC3E}">
        <p14:creationId xmlns:p14="http://schemas.microsoft.com/office/powerpoint/2010/main" val="3524945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no-3">
            <a:extLst xmlns:a="http://schemas.openxmlformats.org/drawingml/2006/main">
              <a:ext uri="{FF2B5EF4-FFF2-40B4-BE49-F238E27FC236}">
                <a16:creationId xmlns:a16="http://schemas.microsoft.com/office/drawing/2014/main" id="{70D3D74B-3989-4E85-99CC-00820FD1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ECF8E"/>
                </a:solidFill>
              </a:defRPr>
            </a:pPr>
            <a:r>
              <a:rPr sz="1125" b="1">
                <a:solidFill>
                  <a:srgbClr val="3ECF8E"/>
                </a:solidFill>
              </a:rPr>
              <a:t>03</a:t>
            </a:r>
          </a:p>
        </p:txBody>
      </p:sp>
      <p:sp>
        <p:nvSpPr>
          <p:cNvPr id="2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91892123-8774-4778-B7D2-97D13412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AFC"/>
                </a:solidFill>
              </a:defRPr>
            </a:pPr>
            <a:r>
              <a:rPr sz="2850" b="1">
                <a:solidFill>
                  <a:srgbClr val="F7FAFC"/>
                </a:solidFill>
              </a:rPr>
              <a:t>한 번에 교체하지 않고, 위험을 두 단계로 분리했다</a:t>
            </a:r>
          </a:p>
        </p:txBody>
      </p:sp>
      <p:sp>
        <p:nvSpPr>
          <p:cNvPr id="3" name="slide-subtitle-3">
            <a:extLst xmlns:a="http://schemas.openxmlformats.org/drawingml/2006/main">
              <a:ext uri="{FF2B5EF4-FFF2-40B4-BE49-F238E27FC236}">
                <a16:creationId xmlns:a16="http://schemas.microsoft.com/office/drawing/2014/main" id="{0428B39F-F866-4BFE-A4C1-8F862C05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3C7"/>
                </a:solidFill>
              </a:defRPr>
            </a:pPr>
            <a:r>
              <a:rPr sz="1425" b="0">
                <a:solidFill>
                  <a:srgbClr val="A8B3C7"/>
                </a:solidFill>
              </a:rPr>
              <a:t>비즈니스 로직 이전과 인프라 이전을 동시에 수행하지 않는다.</a:t>
            </a:r>
          </a:p>
        </p:txBody>
      </p:sp>
      <p:sp>
        <p:nvSpPr>
          <p:cNvPr id="4" name="rule-68-194">
            <a:extLst xmlns:a="http://schemas.openxmlformats.org/drawingml/2006/main">
              <a:ext uri="{FF2B5EF4-FFF2-40B4-BE49-F238E27FC236}">
                <a16:creationId xmlns:a16="http://schemas.microsoft.com/office/drawing/2014/main" id="{AA223B78-D979-4728-B1F8-783C4C28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hase-label-1">
            <a:extLst xmlns:a="http://schemas.openxmlformats.org/drawingml/2006/main">
              <a:ext uri="{FF2B5EF4-FFF2-40B4-BE49-F238E27FC236}">
                <a16:creationId xmlns:a16="http://schemas.microsoft.com/office/drawing/2014/main" id="{E6EC796E-AE6D-4386-A96F-8A431660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ECF8E"/>
                </a:solidFill>
              </a:defRPr>
            </a:pPr>
            <a:r>
              <a:rPr sz="1200" b="1">
                <a:solidFill>
                  <a:srgbClr val="3ECF8E"/>
                </a:solidFill>
              </a:rPr>
              <a:t>1차 · CONTROL</a:t>
            </a:r>
          </a:p>
        </p:txBody>
      </p:sp>
      <p:sp>
        <p:nvSpPr>
          <p:cNvPr id="6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E786D8BE-EF72-4D36-9873-8176208A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AFC"/>
                </a:solidFill>
              </a:defRPr>
            </a:pPr>
            <a:r>
              <a:rPr sz="2175" b="1">
                <a:solidFill>
                  <a:srgbClr val="F7FAFC"/>
                </a:solidFill>
              </a:rPr>
              <a:t>Spring을 서비스 제어의 중심으로</a:t>
            </a:r>
          </a:p>
        </p:txBody>
      </p:sp>
      <p:sp>
        <p:nvSpPr>
          <p:cNvPr id="7" name="phase-copy-1">
            <a:extLst xmlns:a="http://schemas.openxmlformats.org/drawingml/2006/main">
              <a:ext uri="{FF2B5EF4-FFF2-40B4-BE49-F238E27FC236}">
                <a16:creationId xmlns:a16="http://schemas.microsoft.com/office/drawing/2014/main" id="{B3B173EE-F31A-46A8-BBFE-BABA6371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B3C7"/>
                </a:solidFill>
              </a:defRPr>
            </a:pPr>
            <a:r>
              <a:rPr sz="1575" b="0">
                <a:solidFill>
                  <a:srgbClr val="A8B3C7"/>
                </a:solidFill>
              </a:rPr>
              <a:t>기존 Auth·DB·Storage를 유지하고</a:t>
            </a:r>
          </a:p>
          <a:p xmlns:a="http://schemas.openxmlformats.org/drawingml/2006/main">
            <a:pPr algn="l">
              <a:defRPr sz="1575" b="0">
                <a:solidFill>
                  <a:srgbClr val="A8B3C7"/>
                </a:solidFill>
              </a:defRPr>
            </a:pPr>
            <a:r>
              <a:rPr sz="1575" b="0">
                <a:solidFill>
                  <a:srgbClr val="A8B3C7"/>
                </a:solidFill>
              </a:rPr>
              <a:t>REST·STOMP·비즈니스 규칙을 Spring으로 이동</a:t>
            </a:r>
          </a:p>
        </p:txBody>
      </p:sp>
      <p:sp>
        <p:nvSpPr>
          <p:cNvPr id="8" name="rule-602-245">
            <a:extLst xmlns:a="http://schemas.openxmlformats.org/drawingml/2006/main">
              <a:ext uri="{FF2B5EF4-FFF2-40B4-BE49-F238E27FC236}">
                <a16:creationId xmlns:a16="http://schemas.microsoft.com/office/drawing/2014/main" id="{243E46CC-00A2-4D4B-A4F7-F59671C9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333625"/>
            <a:ext cx="381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hase-label-2">
            <a:extLst xmlns:a="http://schemas.openxmlformats.org/drawingml/2006/main">
              <a:ext uri="{FF2B5EF4-FFF2-40B4-BE49-F238E27FC236}">
                <a16:creationId xmlns:a16="http://schemas.microsoft.com/office/drawing/2014/main" id="{E2E52486-28B6-47E7-AE89-02BD6719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B33F"/>
                </a:solidFill>
              </a:defRPr>
            </a:pPr>
            <a:r>
              <a:rPr sz="1200" b="1">
                <a:solidFill>
                  <a:srgbClr val="6DB33F"/>
                </a:solidFill>
              </a:rPr>
              <a:t>2차 · INDEPENDENCE</a:t>
            </a:r>
          </a:p>
        </p:txBody>
      </p:sp>
      <p:sp>
        <p:nvSpPr>
          <p:cNvPr id="10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F72DF287-29F9-47D3-81B2-AB470DD2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98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AFC"/>
                </a:solidFill>
              </a:defRPr>
            </a:pPr>
            <a:r>
              <a:rPr sz="2175" b="1">
                <a:solidFill>
                  <a:srgbClr val="F7FAFC"/>
                </a:solidFill>
              </a:rPr>
              <a:t>안정화 후 Supabase 인프라 제거</a:t>
            </a:r>
          </a:p>
        </p:txBody>
      </p:sp>
      <p:sp>
        <p:nvSpPr>
          <p:cNvPr id="11" name="phase-copy-2">
            <a:extLst xmlns:a="http://schemas.openxmlformats.org/drawingml/2006/main">
              <a:ext uri="{FF2B5EF4-FFF2-40B4-BE49-F238E27FC236}">
                <a16:creationId xmlns:a16="http://schemas.microsoft.com/office/drawing/2014/main" id="{83C73683-872B-459E-926C-29E581E5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623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B3C7"/>
                </a:solidFill>
              </a:defRPr>
            </a:pPr>
            <a:r>
              <a:rPr sz="1575" b="0">
                <a:solidFill>
                  <a:srgbClr val="A8B3C7"/>
                </a:solidFill>
              </a:rPr>
              <a:t>독립 Auth·PostgreSQL·Storage로 이전하고</a:t>
            </a:r>
          </a:p>
          <a:p xmlns:a="http://schemas.openxmlformats.org/drawingml/2006/main">
            <a:pPr algn="l">
              <a:defRPr sz="1575" b="0">
                <a:solidFill>
                  <a:srgbClr val="A8B3C7"/>
                </a:solidFill>
              </a:defRPr>
            </a:pPr>
            <a:r>
              <a:rPr sz="1575" b="0">
                <a:solidFill>
                  <a:srgbClr val="A8B3C7"/>
                </a:solidFill>
              </a:rPr>
              <a:t>인프라 장애 대응과 확장 전략까지 직접 통제</a:t>
            </a:r>
          </a:p>
        </p:txBody>
      </p:sp>
      <p:sp>
        <p:nvSpPr>
          <p:cNvPr id="12" name="rule-82-464">
            <a:extLst xmlns:a="http://schemas.openxmlformats.org/drawingml/2006/main">
              <a:ext uri="{FF2B5EF4-FFF2-40B4-BE49-F238E27FC236}">
                <a16:creationId xmlns:a16="http://schemas.microsoft.com/office/drawing/2014/main" id="{906DB09E-521B-4C08-A2F1-4B213F50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1026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inciple-0-n">
            <a:extLst xmlns:a="http://schemas.openxmlformats.org/drawingml/2006/main">
              <a:ext uri="{FF2B5EF4-FFF2-40B4-BE49-F238E27FC236}">
                <a16:creationId xmlns:a16="http://schemas.microsoft.com/office/drawing/2014/main" id="{8D19DAB2-BCB8-4930-B58C-3D371528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C948"/>
                </a:solidFill>
              </a:defRPr>
            </a:pPr>
            <a:r>
              <a:rPr sz="1125" b="1">
                <a:solidFill>
                  <a:srgbClr val="F7C948"/>
                </a:solidFill>
              </a:rPr>
              <a:t>01</a:t>
            </a:r>
          </a:p>
        </p:txBody>
      </p:sp>
      <p:sp>
        <p:nvSpPr>
          <p:cNvPr id="14" name="principle-0-h">
            <a:extLst xmlns:a="http://schemas.openxmlformats.org/drawingml/2006/main">
              <a:ext uri="{FF2B5EF4-FFF2-40B4-BE49-F238E27FC236}">
                <a16:creationId xmlns:a16="http://schemas.microsoft.com/office/drawing/2014/main" id="{E6B4BB28-7160-4F3A-A854-C7115FA2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053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기능 단위 전환</a:t>
            </a:r>
          </a:p>
        </p:txBody>
      </p:sp>
      <p:sp>
        <p:nvSpPr>
          <p:cNvPr id="15" name="principle-0-b">
            <a:extLst xmlns:a="http://schemas.openxmlformats.org/drawingml/2006/main">
              <a:ext uri="{FF2B5EF4-FFF2-40B4-BE49-F238E27FC236}">
                <a16:creationId xmlns:a16="http://schemas.microsoft.com/office/drawing/2014/main" id="{32FD3BEE-BC5D-4234-BE1A-7314BB0F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95875"/>
            <a:ext cx="2705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3C7"/>
                </a:solidFill>
              </a:defRPr>
            </a:pPr>
            <a:r>
              <a:rPr sz="1275" b="0">
                <a:solidFill>
                  <a:srgbClr val="A8B3C7"/>
                </a:solidFill>
              </a:rPr>
              <a:t>읽기 → 쓰기 → Flutter 직접 접근 제거</a:t>
            </a:r>
          </a:p>
        </p:txBody>
      </p:sp>
      <p:sp>
        <p:nvSpPr>
          <p:cNvPr id="16" name="principle-1-n">
            <a:extLst xmlns:a="http://schemas.openxmlformats.org/drawingml/2006/main">
              <a:ext uri="{FF2B5EF4-FFF2-40B4-BE49-F238E27FC236}">
                <a16:creationId xmlns:a16="http://schemas.microsoft.com/office/drawing/2014/main" id="{788283DF-CD72-4E03-9296-C5374778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762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C948"/>
                </a:solidFill>
              </a:defRPr>
            </a:pPr>
            <a:r>
              <a:rPr sz="1125" b="1">
                <a:solidFill>
                  <a:srgbClr val="F7C948"/>
                </a:solidFill>
              </a:rPr>
              <a:t>02</a:t>
            </a:r>
          </a:p>
        </p:txBody>
      </p:sp>
      <p:sp>
        <p:nvSpPr>
          <p:cNvPr id="17" name="principle-1-h">
            <a:extLst xmlns:a="http://schemas.openxmlformats.org/drawingml/2006/main">
              <a:ext uri="{FF2B5EF4-FFF2-40B4-BE49-F238E27FC236}">
                <a16:creationId xmlns:a16="http://schemas.microsoft.com/office/drawing/2014/main" id="{A13D1CAC-4F8C-4DBB-AD6E-73E2E8C4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7053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단일 쓰기 주체</a:t>
            </a:r>
          </a:p>
        </p:txBody>
      </p:sp>
      <p:sp>
        <p:nvSpPr>
          <p:cNvPr id="18" name="principle-1-b">
            <a:extLst xmlns:a="http://schemas.openxmlformats.org/drawingml/2006/main">
              <a:ext uri="{FF2B5EF4-FFF2-40B4-BE49-F238E27FC236}">
                <a16:creationId xmlns:a16="http://schemas.microsoft.com/office/drawing/2014/main" id="{A9377277-8BBA-43F0-B05E-108BC68E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095875"/>
            <a:ext cx="2705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3C7"/>
                </a:solidFill>
              </a:defRPr>
            </a:pPr>
            <a:r>
              <a:rPr sz="1275" b="0">
                <a:solidFill>
                  <a:srgbClr val="A8B3C7"/>
                </a:solidFill>
              </a:rPr>
              <a:t>Flutter와 Spring의 이중 쓰기 금지</a:t>
            </a:r>
          </a:p>
        </p:txBody>
      </p:sp>
      <p:sp>
        <p:nvSpPr>
          <p:cNvPr id="19" name="principle-2-n">
            <a:extLst xmlns:a="http://schemas.openxmlformats.org/drawingml/2006/main">
              <a:ext uri="{FF2B5EF4-FFF2-40B4-BE49-F238E27FC236}">
                <a16:creationId xmlns:a16="http://schemas.microsoft.com/office/drawing/2014/main" id="{88669BD0-0CEB-4DC5-BE16-B65B31A0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62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C948"/>
                </a:solidFill>
              </a:defRPr>
            </a:pPr>
            <a:r>
              <a:rPr sz="1125" b="1">
                <a:solidFill>
                  <a:srgbClr val="F7C948"/>
                </a:solidFill>
              </a:rPr>
              <a:t>03</a:t>
            </a:r>
          </a:p>
        </p:txBody>
      </p:sp>
      <p:sp>
        <p:nvSpPr>
          <p:cNvPr id="20" name="principle-2-h">
            <a:extLst xmlns:a="http://schemas.openxmlformats.org/drawingml/2006/main">
              <a:ext uri="{FF2B5EF4-FFF2-40B4-BE49-F238E27FC236}">
                <a16:creationId xmlns:a16="http://schemas.microsoft.com/office/drawing/2014/main" id="{AB2C0042-468B-4600-A7F6-C66681FD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053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롤백 가능한 변경</a:t>
            </a:r>
          </a:p>
        </p:txBody>
      </p:sp>
      <p:sp>
        <p:nvSpPr>
          <p:cNvPr id="21" name="principle-2-b">
            <a:extLst xmlns:a="http://schemas.openxmlformats.org/drawingml/2006/main">
              <a:ext uri="{FF2B5EF4-FFF2-40B4-BE49-F238E27FC236}">
                <a16:creationId xmlns:a16="http://schemas.microsoft.com/office/drawing/2014/main" id="{CB3CEEC9-1492-493C-8B86-99E1F9DE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95875"/>
            <a:ext cx="2705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3C7"/>
                </a:solidFill>
              </a:defRPr>
            </a:pPr>
            <a:r>
              <a:rPr sz="1275" b="0">
                <a:solidFill>
                  <a:srgbClr val="A8B3C7"/>
                </a:solidFill>
              </a:rPr>
              <a:t>기존 데이터·세션 경로를 초기에는 유지</a:t>
            </a:r>
          </a:p>
        </p:txBody>
      </p:sp>
      <p:sp>
        <p:nvSpPr>
          <p:cNvPr id="22" name="footer-3">
            <a:extLst xmlns:a="http://schemas.openxmlformats.org/drawingml/2006/main">
              <a:ext uri="{FF2B5EF4-FFF2-40B4-BE49-F238E27FC236}">
                <a16:creationId xmlns:a16="http://schemas.microsoft.com/office/drawing/2014/main" id="{968AEDB6-3141-42F5-B2D6-CEEE5E2B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UDAADAA · BACKEND MIGRATION</a:t>
            </a:r>
          </a:p>
        </p:txBody>
      </p:sp>
      <p:sp>
        <p:nvSpPr>
          <p:cNvPr id="23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D2CB0365-0383-42AF-8DC5-B257C560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3 / 8</a:t>
            </a:r>
          </a:p>
        </p:txBody>
      </p:sp>
    </p:spTree>
    <p:extLst>
      <p:ext uri="{BB962C8B-B14F-4D97-AF65-F5344CB8AC3E}">
        <p14:creationId xmlns:p14="http://schemas.microsoft.com/office/powerpoint/2010/main" val="3734518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lide-no-4">
            <a:extLst xmlns:a="http://schemas.openxmlformats.org/drawingml/2006/main">
              <a:ext uri="{FF2B5EF4-FFF2-40B4-BE49-F238E27FC236}">
                <a16:creationId xmlns:a16="http://schemas.microsoft.com/office/drawing/2014/main" id="{2837F5F9-F8D2-44EA-94E6-265D573F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ECF8E"/>
                </a:solidFill>
              </a:defRPr>
            </a:pPr>
            <a:r>
              <a:rPr sz="1125" b="1">
                <a:solidFill>
                  <a:srgbClr val="3ECF8E"/>
                </a:solidFill>
              </a:rPr>
              <a:t>04</a:t>
            </a:r>
          </a:p>
        </p:txBody>
      </p:sp>
      <p:sp>
        <p:nvSpPr>
          <p:cNvPr id="2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94D802CC-ABF0-41C1-A427-A7F56541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AFC"/>
                </a:solidFill>
              </a:defRPr>
            </a:pPr>
            <a:r>
              <a:rPr sz="2850" b="1">
                <a:solidFill>
                  <a:srgbClr val="F7FAFC"/>
                </a:solidFill>
              </a:rPr>
              <a:t>기술은 ‘현재 복잡도’와 ‘다음 확장’을 함께 봤다</a:t>
            </a:r>
          </a:p>
        </p:txBody>
      </p:sp>
      <p:sp>
        <p:nvSpPr>
          <p:cNvPr id="3" name="slide-subtitle-4">
            <a:extLst xmlns:a="http://schemas.openxmlformats.org/drawingml/2006/main">
              <a:ext uri="{FF2B5EF4-FFF2-40B4-BE49-F238E27FC236}">
                <a16:creationId xmlns:a16="http://schemas.microsoft.com/office/drawing/2014/main" id="{5FCCA9AF-79DD-4C0F-ACD6-F36B484C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3C7"/>
                </a:solidFill>
              </a:defRPr>
            </a:pPr>
            <a:r>
              <a:rPr sz="1425" b="0">
                <a:solidFill>
                  <a:srgbClr val="A8B3C7"/>
                </a:solidFill>
              </a:rPr>
              <a:t>초기 운영을 단순하게 유지하면서 채팅·보증금 확장에 필요한 기반을 확보했다.</a:t>
            </a:r>
          </a:p>
        </p:txBody>
      </p:sp>
      <p:sp>
        <p:nvSpPr>
          <p:cNvPr id="4" name="rule-68-194">
            <a:extLst xmlns:a="http://schemas.openxmlformats.org/drawingml/2006/main">
              <a:ext uri="{FF2B5EF4-FFF2-40B4-BE49-F238E27FC236}">
                <a16:creationId xmlns:a16="http://schemas.microsoft.com/office/drawing/2014/main" id="{768697A9-11FA-41ED-B04D-E7D42C9A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ack-tech-0">
            <a:extLst xmlns:a="http://schemas.openxmlformats.org/drawingml/2006/main">
              <a:ext uri="{FF2B5EF4-FFF2-40B4-BE49-F238E27FC236}">
                <a16:creationId xmlns:a16="http://schemas.microsoft.com/office/drawing/2014/main" id="{547FE75A-08FE-425C-957E-3B2D45C1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385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ECF8E"/>
                </a:solidFill>
              </a:defRPr>
            </a:pPr>
            <a:r>
              <a:rPr sz="1650" b="1">
                <a:solidFill>
                  <a:srgbClr val="3ECF8E"/>
                </a:solidFill>
              </a:rPr>
              <a:t>Spring Boot · Java 21</a:t>
            </a:r>
          </a:p>
        </p:txBody>
      </p:sp>
      <p:sp>
        <p:nvSpPr>
          <p:cNvPr id="6" name="rule-510-234">
            <a:extLst xmlns:a="http://schemas.openxmlformats.org/drawingml/2006/main">
              <a:ext uri="{FF2B5EF4-FFF2-40B4-BE49-F238E27FC236}">
                <a16:creationId xmlns:a16="http://schemas.microsoft.com/office/drawing/2014/main" id="{78763A99-95D0-4315-AA44-9E2D8312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28850"/>
            <a:ext cx="19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ck-why-0">
            <a:extLst xmlns:a="http://schemas.openxmlformats.org/drawingml/2006/main">
              <a:ext uri="{FF2B5EF4-FFF2-40B4-BE49-F238E27FC236}">
                <a16:creationId xmlns:a16="http://schemas.microsoft.com/office/drawing/2014/main" id="{F4675374-BC4C-4E87-9E71-AB71DE69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1526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3C7"/>
                </a:solidFill>
              </a:defRPr>
            </a:pPr>
            <a:r>
              <a:rPr sz="1425" b="0">
                <a:solidFill>
                  <a:srgbClr val="A8B3C7"/>
                </a:solidFill>
              </a:rPr>
              <a:t>비즈니스 규칙·권한·트랜잭션의 중심</a:t>
            </a:r>
          </a:p>
        </p:txBody>
      </p:sp>
      <p:sp>
        <p:nvSpPr>
          <p:cNvPr id="8" name="rule-82-279">
            <a:extLst xmlns:a="http://schemas.openxmlformats.org/drawingml/2006/main">
              <a:ext uri="{FF2B5EF4-FFF2-40B4-BE49-F238E27FC236}">
                <a16:creationId xmlns:a16="http://schemas.microsoft.com/office/drawing/2014/main" id="{9D916474-D2CE-432C-AB88-82FB4680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57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ack-tech-1">
            <a:extLst xmlns:a="http://schemas.openxmlformats.org/drawingml/2006/main">
              <a:ext uri="{FF2B5EF4-FFF2-40B4-BE49-F238E27FC236}">
                <a16:creationId xmlns:a16="http://schemas.microsoft.com/office/drawing/2014/main" id="{1DFD01B4-E1D1-47AE-8031-682EF1C3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90825"/>
            <a:ext cx="385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ECF8E"/>
                </a:solidFill>
              </a:defRPr>
            </a:pPr>
            <a:r>
              <a:rPr sz="1650" b="1">
                <a:solidFill>
                  <a:srgbClr val="3ECF8E"/>
                </a:solidFill>
              </a:rPr>
              <a:t>모듈형 모놀리스</a:t>
            </a:r>
          </a:p>
        </p:txBody>
      </p:sp>
      <p:sp>
        <p:nvSpPr>
          <p:cNvPr id="10" name="rule-510-301">
            <a:extLst xmlns:a="http://schemas.openxmlformats.org/drawingml/2006/main">
              <a:ext uri="{FF2B5EF4-FFF2-40B4-BE49-F238E27FC236}">
                <a16:creationId xmlns:a16="http://schemas.microsoft.com/office/drawing/2014/main" id="{1B5FFE8C-F44F-42B3-ACD8-12355ECC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67025"/>
            <a:ext cx="19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ck-why-1">
            <a:extLst xmlns:a="http://schemas.openxmlformats.org/drawingml/2006/main">
              <a:ext uri="{FF2B5EF4-FFF2-40B4-BE49-F238E27FC236}">
                <a16:creationId xmlns:a16="http://schemas.microsoft.com/office/drawing/2014/main" id="{1D19E73A-1206-46FC-9EC1-00E4F8CA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790825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3C7"/>
                </a:solidFill>
              </a:defRPr>
            </a:pPr>
            <a:r>
              <a:rPr sz="1425" b="0">
                <a:solidFill>
                  <a:srgbClr val="A8B3C7"/>
                </a:solidFill>
              </a:rPr>
              <a:t>배포는 하나, 도메인 책임과 의존성은 분리</a:t>
            </a:r>
          </a:p>
        </p:txBody>
      </p:sp>
      <p:sp>
        <p:nvSpPr>
          <p:cNvPr id="12" name="rule-82-346">
            <a:extLst xmlns:a="http://schemas.openxmlformats.org/drawingml/2006/main">
              <a:ext uri="{FF2B5EF4-FFF2-40B4-BE49-F238E27FC236}">
                <a16:creationId xmlns:a16="http://schemas.microsoft.com/office/drawing/2014/main" id="{6550A32D-0466-4C3F-9C5F-C02D1397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ck-tech-2">
            <a:extLst xmlns:a="http://schemas.openxmlformats.org/drawingml/2006/main">
              <a:ext uri="{FF2B5EF4-FFF2-40B4-BE49-F238E27FC236}">
                <a16:creationId xmlns:a16="http://schemas.microsoft.com/office/drawing/2014/main" id="{842B4458-6819-44A5-8E9E-A718CB60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385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REST + STOMP</a:t>
            </a:r>
          </a:p>
        </p:txBody>
      </p:sp>
      <p:sp>
        <p:nvSpPr>
          <p:cNvPr id="14" name="rule-510-368">
            <a:extLst xmlns:a="http://schemas.openxmlformats.org/drawingml/2006/main">
              <a:ext uri="{FF2B5EF4-FFF2-40B4-BE49-F238E27FC236}">
                <a16:creationId xmlns:a16="http://schemas.microsoft.com/office/drawing/2014/main" id="{38CB8FE8-815F-4462-9FB1-57195D18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05200"/>
            <a:ext cx="19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ack-why-2">
            <a:extLst xmlns:a="http://schemas.openxmlformats.org/drawingml/2006/main">
              <a:ext uri="{FF2B5EF4-FFF2-40B4-BE49-F238E27FC236}">
                <a16:creationId xmlns:a16="http://schemas.microsoft.com/office/drawing/2014/main" id="{A30C904A-E948-40B3-B4C0-C68D4EA0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3C7"/>
                </a:solidFill>
              </a:defRPr>
            </a:pPr>
            <a:r>
              <a:rPr sz="1425" b="0">
                <a:solidFill>
                  <a:srgbClr val="A8B3C7"/>
                </a:solidFill>
              </a:rPr>
              <a:t>저장·복구와 실시간 전달의 책임 분리</a:t>
            </a:r>
          </a:p>
        </p:txBody>
      </p:sp>
      <p:sp>
        <p:nvSpPr>
          <p:cNvPr id="16" name="rule-82-413">
            <a:extLst xmlns:a="http://schemas.openxmlformats.org/drawingml/2006/main">
              <a:ext uri="{FF2B5EF4-FFF2-40B4-BE49-F238E27FC236}">
                <a16:creationId xmlns:a16="http://schemas.microsoft.com/office/drawing/2014/main" id="{B66E66C1-E702-440C-AB1B-741EDC07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33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ack-tech-3">
            <a:extLst xmlns:a="http://schemas.openxmlformats.org/drawingml/2006/main">
              <a:ext uri="{FF2B5EF4-FFF2-40B4-BE49-F238E27FC236}">
                <a16:creationId xmlns:a16="http://schemas.microsoft.com/office/drawing/2014/main" id="{19DAF743-A505-4198-A60F-49735DD6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7175"/>
            <a:ext cx="385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JPA + Flyway + PostgreSQL</a:t>
            </a:r>
          </a:p>
        </p:txBody>
      </p:sp>
      <p:sp>
        <p:nvSpPr>
          <p:cNvPr id="18" name="rule-510-435">
            <a:extLst xmlns:a="http://schemas.openxmlformats.org/drawingml/2006/main">
              <a:ext uri="{FF2B5EF4-FFF2-40B4-BE49-F238E27FC236}">
                <a16:creationId xmlns:a16="http://schemas.microsoft.com/office/drawing/2014/main" id="{0ADFA116-A528-4C3C-9933-DDD6430F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43375"/>
            <a:ext cx="19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ack-why-3">
            <a:extLst xmlns:a="http://schemas.openxmlformats.org/drawingml/2006/main">
              <a:ext uri="{FF2B5EF4-FFF2-40B4-BE49-F238E27FC236}">
                <a16:creationId xmlns:a16="http://schemas.microsoft.com/office/drawing/2014/main" id="{757F3C87-E5F7-4A24-ADCF-341F149A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067175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3C7"/>
                </a:solidFill>
              </a:defRPr>
            </a:pPr>
            <a:r>
              <a:rPr sz="1425" b="0">
                <a:solidFill>
                  <a:srgbClr val="A8B3C7"/>
                </a:solidFill>
              </a:rPr>
              <a:t>도메인 CRUD와 스키마 변경 이력 관리</a:t>
            </a:r>
          </a:p>
        </p:txBody>
      </p:sp>
      <p:sp>
        <p:nvSpPr>
          <p:cNvPr id="20" name="rule-82-480">
            <a:extLst xmlns:a="http://schemas.openxmlformats.org/drawingml/2006/main">
              <a:ext uri="{FF2B5EF4-FFF2-40B4-BE49-F238E27FC236}">
                <a16:creationId xmlns:a16="http://schemas.microsoft.com/office/drawing/2014/main" id="{FEF6076B-E08F-419E-BEE0-BBED0D0D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ack-tech-4">
            <a:extLst xmlns:a="http://schemas.openxmlformats.org/drawingml/2006/main">
              <a:ext uri="{FF2B5EF4-FFF2-40B4-BE49-F238E27FC236}">
                <a16:creationId xmlns:a16="http://schemas.microsoft.com/office/drawing/2014/main" id="{AF63A6A5-9E16-4032-A65A-4FFB0369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385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Supabase Auth·DB·Storage 유지</a:t>
            </a:r>
          </a:p>
        </p:txBody>
      </p:sp>
      <p:sp>
        <p:nvSpPr>
          <p:cNvPr id="22" name="rule-510-502">
            <a:extLst xmlns:a="http://schemas.openxmlformats.org/drawingml/2006/main">
              <a:ext uri="{FF2B5EF4-FFF2-40B4-BE49-F238E27FC236}">
                <a16:creationId xmlns:a16="http://schemas.microsoft.com/office/drawing/2014/main" id="{047CD2B7-FA92-4066-9214-82B2B3E6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81550"/>
            <a:ext cx="19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tack-why-4">
            <a:extLst xmlns:a="http://schemas.openxmlformats.org/drawingml/2006/main">
              <a:ext uri="{FF2B5EF4-FFF2-40B4-BE49-F238E27FC236}">
                <a16:creationId xmlns:a16="http://schemas.microsoft.com/office/drawing/2014/main" id="{1E67C9F6-995C-437C-9A06-58053D77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7053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3C7"/>
                </a:solidFill>
              </a:defRPr>
            </a:pPr>
            <a:r>
              <a:rPr sz="1425" b="0">
                <a:solidFill>
                  <a:srgbClr val="A8B3C7"/>
                </a:solidFill>
              </a:rPr>
              <a:t>1차 전환에서 사용자·데이터 위험 최소화</a:t>
            </a:r>
          </a:p>
        </p:txBody>
      </p:sp>
      <p:sp>
        <p:nvSpPr>
          <p:cNvPr id="24" name="rule-82-547">
            <a:extLst xmlns:a="http://schemas.openxmlformats.org/drawingml/2006/main">
              <a:ext uri="{FF2B5EF4-FFF2-40B4-BE49-F238E27FC236}">
                <a16:creationId xmlns:a16="http://schemas.microsoft.com/office/drawing/2014/main" id="{72892648-C32E-4C9D-B9CC-FA4DA99E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01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tack-tech-5">
            <a:extLst xmlns:a="http://schemas.openxmlformats.org/drawingml/2006/main">
              <a:ext uri="{FF2B5EF4-FFF2-40B4-BE49-F238E27FC236}">
                <a16:creationId xmlns:a16="http://schemas.microsoft.com/office/drawing/2014/main" id="{A15D8352-D35F-4FD7-A0D9-83D2A7F2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43525"/>
            <a:ext cx="385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내부 이벤트 · No Broker</a:t>
            </a:r>
          </a:p>
        </p:txBody>
      </p:sp>
      <p:sp>
        <p:nvSpPr>
          <p:cNvPr id="26" name="rule-510-569">
            <a:extLst xmlns:a="http://schemas.openxmlformats.org/drawingml/2006/main">
              <a:ext uri="{FF2B5EF4-FFF2-40B4-BE49-F238E27FC236}">
                <a16:creationId xmlns:a16="http://schemas.microsoft.com/office/drawing/2014/main" id="{CB219FF0-9E3E-49FB-BFD8-A0040F05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19725"/>
            <a:ext cx="19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tack-why-5">
            <a:extLst xmlns:a="http://schemas.openxmlformats.org/drawingml/2006/main">
              <a:ext uri="{FF2B5EF4-FFF2-40B4-BE49-F238E27FC236}">
                <a16:creationId xmlns:a16="http://schemas.microsoft.com/office/drawing/2014/main" id="{58A159E2-C2C1-40F3-923C-CBE913F7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343525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3C7"/>
                </a:solidFill>
              </a:defRPr>
            </a:pPr>
            <a:r>
              <a:rPr sz="1425" b="0">
                <a:solidFill>
                  <a:srgbClr val="A8B3C7"/>
                </a:solidFill>
              </a:rPr>
              <a:t>Kafka·Outbox는 필요 시점까지 도입 보류</a:t>
            </a:r>
          </a:p>
        </p:txBody>
      </p:sp>
      <p:sp>
        <p:nvSpPr>
          <p:cNvPr id="28" name="footer-4">
            <a:extLst xmlns:a="http://schemas.openxmlformats.org/drawingml/2006/main">
              <a:ext uri="{FF2B5EF4-FFF2-40B4-BE49-F238E27FC236}">
                <a16:creationId xmlns:a16="http://schemas.microsoft.com/office/drawing/2014/main" id="{FB7B2FAA-10EB-48C8-BF48-32163CFA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UDAADAA · BACKEND MIGRATION</a:t>
            </a:r>
          </a:p>
        </p:txBody>
      </p:sp>
      <p:sp>
        <p:nvSpPr>
          <p:cNvPr id="29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91EE628B-D38D-4E64-96F0-FEF2E496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4 / 8</a:t>
            </a:r>
          </a:p>
        </p:txBody>
      </p:sp>
    </p:spTree>
    <p:extLst>
      <p:ext uri="{BB962C8B-B14F-4D97-AF65-F5344CB8AC3E}">
        <p14:creationId xmlns:p14="http://schemas.microsoft.com/office/powerpoint/2010/main" val="12373469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no-5">
            <a:extLst xmlns:a="http://schemas.openxmlformats.org/drawingml/2006/main">
              <a:ext uri="{FF2B5EF4-FFF2-40B4-BE49-F238E27FC236}">
                <a16:creationId xmlns:a16="http://schemas.microsoft.com/office/drawing/2014/main" id="{44A70576-DE23-4EE3-B4D9-FB6696BB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ECF8E"/>
                </a:solidFill>
              </a:defRPr>
            </a:pPr>
            <a:r>
              <a:rPr sz="1125" b="1">
                <a:solidFill>
                  <a:srgbClr val="3ECF8E"/>
                </a:solidFill>
              </a:rPr>
              <a:t>05</a:t>
            </a:r>
          </a:p>
        </p:txBody>
      </p:sp>
      <p:sp>
        <p:nvSpPr>
          <p:cNvPr id="2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4BAD6B79-3AAB-44BB-998C-D7C86AC7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AFC"/>
                </a:solidFill>
              </a:defRPr>
            </a:pPr>
            <a:r>
              <a:rPr sz="2850" b="1">
                <a:solidFill>
                  <a:srgbClr val="F7FAFC"/>
                </a:solidFill>
              </a:rPr>
              <a:t>도메인은 테이블이 아니라 ‘변경 이유와 소유권’으로 나눴다</a:t>
            </a:r>
          </a:p>
        </p:txBody>
      </p:sp>
      <p:sp>
        <p:nvSpPr>
          <p:cNvPr id="3" name="slide-subtitle-5">
            <a:extLst xmlns:a="http://schemas.openxmlformats.org/drawingml/2006/main">
              <a:ext uri="{FF2B5EF4-FFF2-40B4-BE49-F238E27FC236}">
                <a16:creationId xmlns:a16="http://schemas.microsoft.com/office/drawing/2014/main" id="{5F4E98A1-8D4D-4814-A084-C8DEDDC2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3C7"/>
                </a:solidFill>
              </a:defRPr>
            </a:pPr>
            <a:r>
              <a:rPr sz="1425" b="0">
                <a:solidFill>
                  <a:srgbClr val="A8B3C7"/>
                </a:solidFill>
              </a:rPr>
              <a:t>각 데이터에는 하나의 소유 모듈만 두고, 다른 모듈은 공개 기능으로 협력한다.</a:t>
            </a:r>
          </a:p>
        </p:txBody>
      </p:sp>
      <p:sp>
        <p:nvSpPr>
          <p:cNvPr id="4" name="rule-68-194">
            <a:extLst xmlns:a="http://schemas.openxmlformats.org/drawingml/2006/main">
              <a:ext uri="{FF2B5EF4-FFF2-40B4-BE49-F238E27FC236}">
                <a16:creationId xmlns:a16="http://schemas.microsoft.com/office/drawing/2014/main" id="{B082AB05-302A-4399-BFFC-41D54E8C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247-323">
            <a:extLst xmlns:a="http://schemas.openxmlformats.org/drawingml/2006/main">
              <a:ext uri="{FF2B5EF4-FFF2-40B4-BE49-F238E27FC236}">
                <a16:creationId xmlns:a16="http://schemas.microsoft.com/office/drawing/2014/main" id="{F5F5F328-0367-48C8-BB28-50BA6F3E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076575"/>
            <a:ext cx="733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407-323">
            <a:extLst xmlns:a="http://schemas.openxmlformats.org/drawingml/2006/main">
              <a:ext uri="{FF2B5EF4-FFF2-40B4-BE49-F238E27FC236}">
                <a16:creationId xmlns:a16="http://schemas.microsoft.com/office/drawing/2014/main" id="{942B2058-FF6F-4C22-BEB8-35D03816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076575"/>
            <a:ext cx="285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ule-650-250">
            <a:extLst xmlns:a="http://schemas.openxmlformats.org/drawingml/2006/main">
              <a:ext uri="{FF2B5EF4-FFF2-40B4-BE49-F238E27FC236}">
                <a16:creationId xmlns:a16="http://schemas.microsoft.com/office/drawing/2014/main" id="{14A1B3B5-A4CD-4B99-81B1-54F31788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28575" cy="2219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ule-890-323">
            <a:extLst xmlns:a="http://schemas.openxmlformats.org/drawingml/2006/main">
              <a:ext uri="{FF2B5EF4-FFF2-40B4-BE49-F238E27FC236}">
                <a16:creationId xmlns:a16="http://schemas.microsoft.com/office/drawing/2014/main" id="{2AF275CE-1966-41B7-A0B4-3F4906E2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76575"/>
            <a:ext cx="285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mber-domain-box">
            <a:extLst xmlns:a="http://schemas.openxmlformats.org/drawingml/2006/main">
              <a:ext uri="{FF2B5EF4-FFF2-40B4-BE49-F238E27FC236}">
                <a16:creationId xmlns:a16="http://schemas.microsoft.com/office/drawing/2014/main" id="{59ED6AD1-A355-4CD6-8F2A-227DCDAB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714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7304A"/>
          </a:solidFill>
          <a:ln xmlns:a="http://schemas.openxmlformats.org/drawingml/2006/main" w="9525">
            <a:solidFill>
              <a:srgbClr val="60708A"/>
            </a:solidFill>
            <a:prstDash val="solid"/>
          </a:ln>
        </p:spPr>
      </p:sp>
      <p:sp>
        <p:nvSpPr>
          <p:cNvPr id="10" name="member-domain-text">
            <a:extLst xmlns:a="http://schemas.openxmlformats.org/drawingml/2006/main">
              <a:ext uri="{FF2B5EF4-FFF2-40B4-BE49-F238E27FC236}">
                <a16:creationId xmlns:a16="http://schemas.microsoft.com/office/drawing/2014/main" id="{DFBFA26E-B10F-4A96-934F-8F6092C9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52725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ECF8E"/>
                </a:solidFill>
              </a:defRPr>
            </a:pPr>
            <a:r>
              <a:rPr sz="1500" b="1">
                <a:solidFill>
                  <a:srgbClr val="3ECF8E"/>
                </a:solidFill>
              </a:rPr>
              <a:t>Member</a:t>
            </a:r>
          </a:p>
          <a:p xmlns:a="http://schemas.openxmlformats.org/drawingml/2006/main">
            <a:pPr algn="ctr">
              <a:defRPr sz="1500" b="1">
                <a:solidFill>
                  <a:srgbClr val="3ECF8E"/>
                </a:solidFill>
              </a:defRPr>
            </a:pPr>
            <a:r>
              <a:rPr sz="1500" b="1">
                <a:solidFill>
                  <a:srgbClr val="3ECF8E"/>
                </a:solidFill>
              </a:rPr>
              <a:t>회원·프로필</a:t>
            </a:r>
          </a:p>
        </p:txBody>
      </p:sp>
      <p:sp>
        <p:nvSpPr>
          <p:cNvPr id="11" name="challenge-domain-box">
            <a:extLst xmlns:a="http://schemas.openxmlformats.org/drawingml/2006/main">
              <a:ext uri="{FF2B5EF4-FFF2-40B4-BE49-F238E27FC236}">
                <a16:creationId xmlns:a16="http://schemas.microsoft.com/office/drawing/2014/main" id="{83DE647F-83B0-4DDD-BF24-83074B31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1714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7304A"/>
          </a:solidFill>
          <a:ln xmlns:a="http://schemas.openxmlformats.org/drawingml/2006/main" w="9525">
            <a:solidFill>
              <a:srgbClr val="60708A"/>
            </a:solidFill>
            <a:prstDash val="solid"/>
          </a:ln>
        </p:spPr>
      </p:sp>
      <p:sp>
        <p:nvSpPr>
          <p:cNvPr id="12" name="challenge-domain-text">
            <a:extLst xmlns:a="http://schemas.openxmlformats.org/drawingml/2006/main">
              <a:ext uri="{FF2B5EF4-FFF2-40B4-BE49-F238E27FC236}">
                <a16:creationId xmlns:a16="http://schemas.microsoft.com/office/drawing/2014/main" id="{1A911F94-E3B1-4181-AD54-E19A4583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383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AFC"/>
                </a:solidFill>
              </a:defRPr>
            </a:pPr>
            <a:r>
              <a:rPr sz="1500" b="1">
                <a:solidFill>
                  <a:srgbClr val="F7FAFC"/>
                </a:solidFill>
              </a:rPr>
              <a:t>Challenge</a:t>
            </a:r>
          </a:p>
          <a:p xmlns:a="http://schemas.openxmlformats.org/drawingml/2006/main">
            <a:pPr algn="ctr">
              <a:defRPr sz="1500" b="1">
                <a:solidFill>
                  <a:srgbClr val="F7FAFC"/>
                </a:solidFill>
              </a:defRPr>
            </a:pPr>
            <a:r>
              <a:rPr sz="1500" b="1">
                <a:solidFill>
                  <a:srgbClr val="F7FAFC"/>
                </a:solidFill>
              </a:rPr>
              <a:t>참여·성공 판정</a:t>
            </a:r>
          </a:p>
        </p:txBody>
      </p:sp>
      <p:sp>
        <p:nvSpPr>
          <p:cNvPr id="13" name="record-domain-box">
            <a:extLst xmlns:a="http://schemas.openxmlformats.org/drawingml/2006/main">
              <a:ext uri="{FF2B5EF4-FFF2-40B4-BE49-F238E27FC236}">
                <a16:creationId xmlns:a16="http://schemas.microsoft.com/office/drawing/2014/main" id="{918BFD2E-F22B-4550-8342-4EF44038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38625"/>
            <a:ext cx="1714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7304A"/>
          </a:solidFill>
          <a:ln xmlns:a="http://schemas.openxmlformats.org/drawingml/2006/main" w="9525">
            <a:solidFill>
              <a:srgbClr val="60708A"/>
            </a:solidFill>
            <a:prstDash val="solid"/>
          </a:ln>
        </p:spPr>
      </p:sp>
      <p:sp>
        <p:nvSpPr>
          <p:cNvPr id="14" name="record-domain-text">
            <a:extLst xmlns:a="http://schemas.openxmlformats.org/drawingml/2006/main">
              <a:ext uri="{FF2B5EF4-FFF2-40B4-BE49-F238E27FC236}">
                <a16:creationId xmlns:a16="http://schemas.microsoft.com/office/drawing/2014/main" id="{B1241448-CEBA-442E-A307-2DA6FCE1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76725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AFC"/>
                </a:solidFill>
              </a:defRPr>
            </a:pPr>
            <a:r>
              <a:rPr sz="1500" b="1">
                <a:solidFill>
                  <a:srgbClr val="F7FAFC"/>
                </a:solidFill>
              </a:rPr>
              <a:t>Record</a:t>
            </a:r>
          </a:p>
          <a:p xmlns:a="http://schemas.openxmlformats.org/drawingml/2006/main">
            <a:pPr algn="ctr">
              <a:defRPr sz="1500" b="1">
                <a:solidFill>
                  <a:srgbClr val="F7FAFC"/>
                </a:solidFill>
              </a:defRPr>
            </a:pPr>
            <a:r>
              <a:rPr sz="1500" b="1">
                <a:solidFill>
                  <a:srgbClr val="F7FAFC"/>
                </a:solidFill>
              </a:rPr>
              <a:t>건강 인증·리포트</a:t>
            </a:r>
          </a:p>
        </p:txBody>
      </p:sp>
      <p:sp>
        <p:nvSpPr>
          <p:cNvPr id="15" name="chat-domain-box">
            <a:extLst xmlns:a="http://schemas.openxmlformats.org/drawingml/2006/main">
              <a:ext uri="{FF2B5EF4-FFF2-40B4-BE49-F238E27FC236}">
                <a16:creationId xmlns:a16="http://schemas.microsoft.com/office/drawing/2014/main" id="{E8443F76-76A8-4305-8429-418B3E3F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14625"/>
            <a:ext cx="1714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7304A"/>
          </a:solidFill>
          <a:ln xmlns:a="http://schemas.openxmlformats.org/drawingml/2006/main" w="9525">
            <a:solidFill>
              <a:srgbClr val="60708A"/>
            </a:solidFill>
            <a:prstDash val="solid"/>
          </a:ln>
        </p:spPr>
      </p:sp>
      <p:sp>
        <p:nvSpPr>
          <p:cNvPr id="16" name="chat-domain-text">
            <a:extLst xmlns:a="http://schemas.openxmlformats.org/drawingml/2006/main">
              <a:ext uri="{FF2B5EF4-FFF2-40B4-BE49-F238E27FC236}">
                <a16:creationId xmlns:a16="http://schemas.microsoft.com/office/drawing/2014/main" id="{1D2BD0D2-207B-4C31-A9C8-85E10DF5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752725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4C7EC"/>
                </a:solidFill>
              </a:defRPr>
            </a:pPr>
            <a:r>
              <a:rPr sz="1500" b="1">
                <a:solidFill>
                  <a:srgbClr val="54C7EC"/>
                </a:solidFill>
              </a:rPr>
              <a:t>Chat</a:t>
            </a:r>
          </a:p>
          <a:p xmlns:a="http://schemas.openxmlformats.org/drawingml/2006/main">
            <a:pPr algn="ctr">
              <a:defRPr sz="1500" b="1">
                <a:solidFill>
                  <a:srgbClr val="54C7EC"/>
                </a:solidFill>
              </a:defRPr>
            </a:pPr>
            <a:r>
              <a:rPr sz="1500" b="1">
                <a:solidFill>
                  <a:srgbClr val="54C7EC"/>
                </a:solidFill>
              </a:rPr>
              <a:t>방·메시지·복구</a:t>
            </a:r>
          </a:p>
        </p:txBody>
      </p:sp>
      <p:sp>
        <p:nvSpPr>
          <p:cNvPr id="17" name="social-domain-box">
            <a:extLst xmlns:a="http://schemas.openxmlformats.org/drawingml/2006/main">
              <a:ext uri="{FF2B5EF4-FFF2-40B4-BE49-F238E27FC236}">
                <a16:creationId xmlns:a16="http://schemas.microsoft.com/office/drawing/2014/main" id="{ACE8E20B-86AB-41A6-825A-681DAD1F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238625"/>
            <a:ext cx="1714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7304A"/>
          </a:solidFill>
          <a:ln xmlns:a="http://schemas.openxmlformats.org/drawingml/2006/main" w="9525">
            <a:solidFill>
              <a:srgbClr val="60708A"/>
            </a:solidFill>
            <a:prstDash val="solid"/>
          </a:ln>
        </p:spPr>
      </p:sp>
      <p:sp>
        <p:nvSpPr>
          <p:cNvPr id="18" name="social-domain-text">
            <a:extLst xmlns:a="http://schemas.openxmlformats.org/drawingml/2006/main">
              <a:ext uri="{FF2B5EF4-FFF2-40B4-BE49-F238E27FC236}">
                <a16:creationId xmlns:a16="http://schemas.microsoft.com/office/drawing/2014/main" id="{B416861B-8D8E-4B50-B240-8B26EF5C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76725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AFC"/>
                </a:solidFill>
              </a:defRPr>
            </a:pPr>
            <a:r>
              <a:rPr sz="1500" b="1">
                <a:solidFill>
                  <a:srgbClr val="F7FAFC"/>
                </a:solidFill>
              </a:rPr>
              <a:t>Social</a:t>
            </a:r>
          </a:p>
          <a:p xmlns:a="http://schemas.openxmlformats.org/drawingml/2006/main">
            <a:pPr algn="ctr">
              <a:defRPr sz="1500" b="1">
                <a:solidFill>
                  <a:srgbClr val="F7FAFC"/>
                </a:solidFill>
              </a:defRPr>
            </a:pPr>
            <a:r>
              <a:rPr sz="1500" b="1">
                <a:solidFill>
                  <a:srgbClr val="F7FAFC"/>
                </a:solidFill>
              </a:rPr>
              <a:t>피드·반응</a:t>
            </a:r>
          </a:p>
        </p:txBody>
      </p:sp>
      <p:sp>
        <p:nvSpPr>
          <p:cNvPr id="19" name="moderation-domain-box">
            <a:extLst xmlns:a="http://schemas.openxmlformats.org/drawingml/2006/main">
              <a:ext uri="{FF2B5EF4-FFF2-40B4-BE49-F238E27FC236}">
                <a16:creationId xmlns:a16="http://schemas.microsoft.com/office/drawing/2014/main" id="{147FD1D4-68DE-4F77-AB00-6B873B54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1714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7304A"/>
          </a:solidFill>
          <a:ln xmlns:a="http://schemas.openxmlformats.org/drawingml/2006/main" w="9525">
            <a:solidFill>
              <a:srgbClr val="60708A"/>
            </a:solidFill>
            <a:prstDash val="solid"/>
          </a:ln>
        </p:spPr>
      </p:sp>
      <p:sp>
        <p:nvSpPr>
          <p:cNvPr id="20" name="moderation-domain-text">
            <a:extLst xmlns:a="http://schemas.openxmlformats.org/drawingml/2006/main">
              <a:ext uri="{FF2B5EF4-FFF2-40B4-BE49-F238E27FC236}">
                <a16:creationId xmlns:a16="http://schemas.microsoft.com/office/drawing/2014/main" id="{77C11AFB-18B5-4DC4-825A-555C2D8B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383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AFC"/>
                </a:solidFill>
              </a:defRPr>
            </a:pPr>
            <a:r>
              <a:rPr sz="1500" b="1">
                <a:solidFill>
                  <a:srgbClr val="F7FAFC"/>
                </a:solidFill>
              </a:rPr>
              <a:t>Moderation</a:t>
            </a:r>
          </a:p>
          <a:p xmlns:a="http://schemas.openxmlformats.org/drawingml/2006/main">
            <a:pPr algn="ctr">
              <a:defRPr sz="1500" b="1">
                <a:solidFill>
                  <a:srgbClr val="F7FAFC"/>
                </a:solidFill>
              </a:defRPr>
            </a:pPr>
            <a:r>
              <a:rPr sz="1500" b="1">
                <a:solidFill>
                  <a:srgbClr val="F7FAFC"/>
                </a:solidFill>
              </a:rPr>
              <a:t>전역 차단</a:t>
            </a:r>
          </a:p>
        </p:txBody>
      </p:sp>
      <p:sp>
        <p:nvSpPr>
          <p:cNvPr id="21" name="notification-domain-box">
            <a:extLst xmlns:a="http://schemas.openxmlformats.org/drawingml/2006/main">
              <a:ext uri="{FF2B5EF4-FFF2-40B4-BE49-F238E27FC236}">
                <a16:creationId xmlns:a16="http://schemas.microsoft.com/office/drawing/2014/main" id="{81C0393C-DD1B-40E7-AD8C-32BC10B0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14625"/>
            <a:ext cx="1714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7304A"/>
          </a:solidFill>
          <a:ln xmlns:a="http://schemas.openxmlformats.org/drawingml/2006/main" w="9525">
            <a:solidFill>
              <a:srgbClr val="60708A"/>
            </a:solidFill>
            <a:prstDash val="solid"/>
          </a:ln>
        </p:spPr>
      </p:sp>
      <p:sp>
        <p:nvSpPr>
          <p:cNvPr id="22" name="notification-domain-text">
            <a:extLst xmlns:a="http://schemas.openxmlformats.org/drawingml/2006/main">
              <a:ext uri="{FF2B5EF4-FFF2-40B4-BE49-F238E27FC236}">
                <a16:creationId xmlns:a16="http://schemas.microsoft.com/office/drawing/2014/main" id="{9B43C050-9A76-4CBC-AAAB-EA374917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52725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C948"/>
                </a:solidFill>
              </a:defRPr>
            </a:pPr>
            <a:r>
              <a:rPr sz="1500" b="1">
                <a:solidFill>
                  <a:srgbClr val="F7C948"/>
                </a:solidFill>
              </a:rPr>
              <a:t>Notification</a:t>
            </a:r>
          </a:p>
          <a:p xmlns:a="http://schemas.openxmlformats.org/drawingml/2006/main">
            <a:pPr algn="ctr">
              <a:defRPr sz="1500" b="1">
                <a:solidFill>
                  <a:srgbClr val="F7C948"/>
                </a:solidFill>
              </a:defRPr>
            </a:pPr>
            <a:r>
              <a:rPr sz="1500" b="1">
                <a:solidFill>
                  <a:srgbClr val="F7C948"/>
                </a:solidFill>
              </a:rPr>
              <a:t>Push·재시도</a:t>
            </a:r>
          </a:p>
        </p:txBody>
      </p:sp>
      <p:sp>
        <p:nvSpPr>
          <p:cNvPr id="23" name="ddd-rule-1">
            <a:extLst xmlns:a="http://schemas.openxmlformats.org/drawingml/2006/main">
              <a:ext uri="{FF2B5EF4-FFF2-40B4-BE49-F238E27FC236}">
                <a16:creationId xmlns:a16="http://schemas.microsoft.com/office/drawing/2014/main" id="{7A4411C9-E66A-422F-B21A-B6C577FB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Repository·Entity 직접 참조 금지</a:t>
            </a:r>
          </a:p>
        </p:txBody>
      </p:sp>
      <p:sp>
        <p:nvSpPr>
          <p:cNvPr id="24" name="ddd-rule-2">
            <a:extLst xmlns:a="http://schemas.openxmlformats.org/drawingml/2006/main">
              <a:ext uri="{FF2B5EF4-FFF2-40B4-BE49-F238E27FC236}">
                <a16:creationId xmlns:a16="http://schemas.microsoft.com/office/drawing/2014/main" id="{D82BDF16-F22C-4604-A89F-04FB8A13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391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동기 호출 + 내부 이벤트</a:t>
            </a:r>
          </a:p>
        </p:txBody>
      </p:sp>
      <p:sp>
        <p:nvSpPr>
          <p:cNvPr id="25" name="ddd-rule-3">
            <a:extLst xmlns:a="http://schemas.openxmlformats.org/drawingml/2006/main">
              <a:ext uri="{FF2B5EF4-FFF2-40B4-BE49-F238E27FC236}">
                <a16:creationId xmlns:a16="http://schemas.microsoft.com/office/drawing/2014/main" id="{DA71E947-59F6-432B-8139-45034912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911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Spring Modulith 경계 검증</a:t>
            </a:r>
          </a:p>
        </p:txBody>
      </p:sp>
      <p:sp>
        <p:nvSpPr>
          <p:cNvPr id="26" name="footer-5">
            <a:extLst xmlns:a="http://schemas.openxmlformats.org/drawingml/2006/main">
              <a:ext uri="{FF2B5EF4-FFF2-40B4-BE49-F238E27FC236}">
                <a16:creationId xmlns:a16="http://schemas.microsoft.com/office/drawing/2014/main" id="{E13A8FD6-B016-4C4F-B4DB-CF077694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UDAADAA · BACKEND MIGRATION</a:t>
            </a:r>
          </a:p>
        </p:txBody>
      </p:sp>
      <p:sp>
        <p:nvSpPr>
          <p:cNvPr id="27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5F532847-1320-41BB-A84D-48D673AB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5 / 8</a:t>
            </a:r>
          </a:p>
        </p:txBody>
      </p:sp>
    </p:spTree>
    <p:extLst>
      <p:ext uri="{BB962C8B-B14F-4D97-AF65-F5344CB8AC3E}">
        <p14:creationId xmlns:p14="http://schemas.microsoft.com/office/powerpoint/2010/main" val="8290989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no-6">
            <a:extLst xmlns:a="http://schemas.openxmlformats.org/drawingml/2006/main">
              <a:ext uri="{FF2B5EF4-FFF2-40B4-BE49-F238E27FC236}">
                <a16:creationId xmlns:a16="http://schemas.microsoft.com/office/drawing/2014/main" id="{30465031-91A3-446C-BF31-31E40F6E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ECF8E"/>
                </a:solidFill>
              </a:defRPr>
            </a:pPr>
            <a:r>
              <a:rPr sz="1125" b="1">
                <a:solidFill>
                  <a:srgbClr val="3ECF8E"/>
                </a:solidFill>
              </a:rPr>
              <a:t>06</a:t>
            </a:r>
          </a:p>
        </p:txBody>
      </p:sp>
      <p:sp>
        <p:nvSpPr>
          <p:cNvPr id="2" name="slide-title-6">
            <a:extLst xmlns:a="http://schemas.openxmlformats.org/drawingml/2006/main">
              <a:ext uri="{FF2B5EF4-FFF2-40B4-BE49-F238E27FC236}">
                <a16:creationId xmlns:a16="http://schemas.microsoft.com/office/drawing/2014/main" id="{1ACB229D-B943-4B34-9E9B-9AE5F57B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AFC"/>
                </a:solidFill>
              </a:defRPr>
            </a:pPr>
            <a:r>
              <a:rPr sz="2850" b="1">
                <a:solidFill>
                  <a:srgbClr val="F7FAFC"/>
                </a:solidFill>
              </a:rPr>
              <a:t>Member는 DDD 경계를 실제 코드 구조로 증명했다</a:t>
            </a:r>
          </a:p>
        </p:txBody>
      </p:sp>
      <p:sp>
        <p:nvSpPr>
          <p:cNvPr id="3" name="slide-subtitle-6">
            <a:extLst xmlns:a="http://schemas.openxmlformats.org/drawingml/2006/main">
              <a:ext uri="{FF2B5EF4-FFF2-40B4-BE49-F238E27FC236}">
                <a16:creationId xmlns:a16="http://schemas.microsoft.com/office/drawing/2014/main" id="{2EDE134B-3F05-44D1-A30A-4B9CF1BE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3C7"/>
                </a:solidFill>
              </a:defRPr>
            </a:pPr>
            <a:r>
              <a:rPr sz="1425" b="0">
                <a:solidFill>
                  <a:srgbClr val="A8B3C7"/>
                </a:solidFill>
              </a:rPr>
              <a:t>JPA Entity와 도메인 모델을 분리하고, 인증된 JWT subject만 회원 식별에 사용한다.</a:t>
            </a:r>
          </a:p>
        </p:txBody>
      </p:sp>
      <p:sp>
        <p:nvSpPr>
          <p:cNvPr id="4" name="rule-68-194">
            <a:extLst xmlns:a="http://schemas.openxmlformats.org/drawingml/2006/main">
              <a:ext uri="{FF2B5EF4-FFF2-40B4-BE49-F238E27FC236}">
                <a16:creationId xmlns:a16="http://schemas.microsoft.com/office/drawing/2014/main" id="{78733C22-4259-476D-9A5E-FD88C26F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174-322">
            <a:extLst xmlns:a="http://schemas.openxmlformats.org/drawingml/2006/main">
              <a:ext uri="{FF2B5EF4-FFF2-40B4-BE49-F238E27FC236}">
                <a16:creationId xmlns:a16="http://schemas.microsoft.com/office/drawing/2014/main" id="{C2C8D600-DA7B-47EB-B3F0-888E73C5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67050"/>
            <a:ext cx="885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esentation-box">
            <a:extLst xmlns:a="http://schemas.openxmlformats.org/drawingml/2006/main">
              <a:ext uri="{FF2B5EF4-FFF2-40B4-BE49-F238E27FC236}">
                <a16:creationId xmlns:a16="http://schemas.microsoft.com/office/drawing/2014/main" id="{D7D99B5E-FF97-4B30-9724-F448DB57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952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304A"/>
          </a:solidFill>
          <a:ln xmlns:a="http://schemas.openxmlformats.org/drawingml/2006/main" w="9525">
            <a:solidFill>
              <a:srgbClr val="60708A"/>
            </a:solidFill>
            <a:prstDash val="solid"/>
          </a:ln>
        </p:spPr>
      </p:sp>
      <p:sp>
        <p:nvSpPr>
          <p:cNvPr id="7" name="presentation-text">
            <a:extLst xmlns:a="http://schemas.openxmlformats.org/drawingml/2006/main">
              <a:ext uri="{FF2B5EF4-FFF2-40B4-BE49-F238E27FC236}">
                <a16:creationId xmlns:a16="http://schemas.microsoft.com/office/drawing/2014/main" id="{47141818-A7B6-4B75-9D31-09641FD5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1762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AFC"/>
                </a:solidFill>
              </a:defRPr>
            </a:pPr>
            <a:r>
              <a:rPr sz="1500" b="1">
                <a:solidFill>
                  <a:srgbClr val="F7FAFC"/>
                </a:solidFill>
              </a:rPr>
              <a:t>Presentation</a:t>
            </a:r>
          </a:p>
          <a:p xmlns:a="http://schemas.openxmlformats.org/drawingml/2006/main">
            <a:pPr algn="ctr">
              <a:defRPr sz="1500" b="1">
                <a:solidFill>
                  <a:srgbClr val="F7FAFC"/>
                </a:solidFill>
              </a:defRPr>
            </a:pPr>
            <a:r>
              <a:rPr sz="1500" b="1">
                <a:solidFill>
                  <a:srgbClr val="F7FAFC"/>
                </a:solidFill>
              </a:rPr>
              <a:t>Controller·DTO</a:t>
            </a:r>
          </a:p>
        </p:txBody>
      </p:sp>
      <p:sp>
        <p:nvSpPr>
          <p:cNvPr id="8" name="application-box">
            <a:extLst xmlns:a="http://schemas.openxmlformats.org/drawingml/2006/main">
              <a:ext uri="{FF2B5EF4-FFF2-40B4-BE49-F238E27FC236}">
                <a16:creationId xmlns:a16="http://schemas.microsoft.com/office/drawing/2014/main" id="{3C7683A7-496C-43A6-A237-4E0B5AEA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71750"/>
            <a:ext cx="20478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304A"/>
          </a:solidFill>
          <a:ln xmlns:a="http://schemas.openxmlformats.org/drawingml/2006/main" w="9525">
            <a:solidFill>
              <a:srgbClr val="60708A"/>
            </a:solidFill>
            <a:prstDash val="solid"/>
          </a:ln>
        </p:spPr>
      </p:sp>
      <p:sp>
        <p:nvSpPr>
          <p:cNvPr id="9" name="application-text">
            <a:extLst xmlns:a="http://schemas.openxmlformats.org/drawingml/2006/main">
              <a:ext uri="{FF2B5EF4-FFF2-40B4-BE49-F238E27FC236}">
                <a16:creationId xmlns:a16="http://schemas.microsoft.com/office/drawing/2014/main" id="{682A995F-51E9-4241-BFE7-AFEF843D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09850"/>
            <a:ext cx="18573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AFC"/>
                </a:solidFill>
              </a:defRPr>
            </a:pPr>
            <a:r>
              <a:rPr sz="1500" b="1">
                <a:solidFill>
                  <a:srgbClr val="F7FAFC"/>
                </a:solidFill>
              </a:rPr>
              <a:t>Application</a:t>
            </a:r>
          </a:p>
          <a:p xmlns:a="http://schemas.openxmlformats.org/drawingml/2006/main">
            <a:pPr algn="ctr">
              <a:defRPr sz="1500" b="1">
                <a:solidFill>
                  <a:srgbClr val="F7FAFC"/>
                </a:solidFill>
              </a:defRPr>
            </a:pPr>
            <a:r>
              <a:rPr sz="1500" b="1">
                <a:solidFill>
                  <a:srgbClr val="F7FAFC"/>
                </a:solidFill>
              </a:rPr>
              <a:t>Use Case·Transaction</a:t>
            </a:r>
          </a:p>
        </p:txBody>
      </p:sp>
      <p:sp>
        <p:nvSpPr>
          <p:cNvPr id="10" name="domain-box">
            <a:extLst xmlns:a="http://schemas.openxmlformats.org/drawingml/2006/main">
              <a:ext uri="{FF2B5EF4-FFF2-40B4-BE49-F238E27FC236}">
                <a16:creationId xmlns:a16="http://schemas.microsoft.com/office/drawing/2014/main" id="{1A2423B9-2F45-4EF1-9816-A7E29D95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28875"/>
            <a:ext cx="2238375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3ECF8E"/>
          </a:solidFill>
          <a:ln xmlns:a="http://schemas.openxmlformats.org/drawingml/2006/main" w="9525">
            <a:solidFill>
              <a:srgbClr val="60708A"/>
            </a:solidFill>
            <a:prstDash val="solid"/>
          </a:ln>
        </p:spPr>
      </p:sp>
      <p:sp>
        <p:nvSpPr>
          <p:cNvPr id="11" name="domain-text">
            <a:extLst xmlns:a="http://schemas.openxmlformats.org/drawingml/2006/main">
              <a:ext uri="{FF2B5EF4-FFF2-40B4-BE49-F238E27FC236}">
                <a16:creationId xmlns:a16="http://schemas.microsoft.com/office/drawing/2014/main" id="{86F8F6FD-0A78-4613-9E32-59F4EFF0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66975"/>
            <a:ext cx="20478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111F"/>
                </a:solidFill>
              </a:defRPr>
            </a:pPr>
            <a:r>
              <a:rPr sz="1425" b="1">
                <a:solidFill>
                  <a:srgbClr val="07111F"/>
                </a:solidFill>
              </a:rPr>
              <a:t>Domain</a:t>
            </a:r>
          </a:p>
          <a:p xmlns:a="http://schemas.openxmlformats.org/drawingml/2006/main">
            <a:pPr algn="ctr">
              <a:defRPr sz="1425" b="1">
                <a:solidFill>
                  <a:srgbClr val="07111F"/>
                </a:solidFill>
              </a:defRPr>
            </a:pPr>
            <a:r>
              <a:rPr sz="1425" b="1">
                <a:solidFill>
                  <a:srgbClr val="07111F"/>
                </a:solidFill>
              </a:rPr>
              <a:t>MemberProfile</a:t>
            </a:r>
          </a:p>
          <a:p xmlns:a="http://schemas.openxmlformats.org/drawingml/2006/main">
            <a:pPr algn="ctr">
              <a:defRPr sz="1425" b="1">
                <a:solidFill>
                  <a:srgbClr val="07111F"/>
                </a:solidFill>
              </a:defRPr>
            </a:pPr>
            <a:r>
              <a:rPr sz="1425" b="1">
                <a:solidFill>
                  <a:srgbClr val="07111F"/>
                </a:solidFill>
              </a:rPr>
              <a:t>Repository</a:t>
            </a:r>
          </a:p>
        </p:txBody>
      </p:sp>
      <p:sp>
        <p:nvSpPr>
          <p:cNvPr id="12" name="infrastructure-box">
            <a:extLst xmlns:a="http://schemas.openxmlformats.org/drawingml/2006/main">
              <a:ext uri="{FF2B5EF4-FFF2-40B4-BE49-F238E27FC236}">
                <a16:creationId xmlns:a16="http://schemas.microsoft.com/office/drawing/2014/main" id="{4BDEB273-407C-44D7-915C-05FE6AC4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71750"/>
            <a:ext cx="20478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304A"/>
          </a:solidFill>
          <a:ln xmlns:a="http://schemas.openxmlformats.org/drawingml/2006/main" w="9525">
            <a:solidFill>
              <a:srgbClr val="60708A"/>
            </a:solidFill>
            <a:prstDash val="solid"/>
          </a:ln>
        </p:spPr>
      </p:sp>
      <p:sp>
        <p:nvSpPr>
          <p:cNvPr id="13" name="infrastructure-text">
            <a:extLst xmlns:a="http://schemas.openxmlformats.org/drawingml/2006/main">
              <a:ext uri="{FF2B5EF4-FFF2-40B4-BE49-F238E27FC236}">
                <a16:creationId xmlns:a16="http://schemas.microsoft.com/office/drawing/2014/main" id="{3F0FBA19-0AF6-4C71-BEED-CBC56BEF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09850"/>
            <a:ext cx="18573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AFC"/>
                </a:solidFill>
              </a:defRPr>
            </a:pPr>
            <a:r>
              <a:rPr sz="1500" b="1">
                <a:solidFill>
                  <a:srgbClr val="F7FAFC"/>
                </a:solidFill>
              </a:rPr>
              <a:t>Infrastructure</a:t>
            </a:r>
          </a:p>
          <a:p xmlns:a="http://schemas.openxmlformats.org/drawingml/2006/main">
            <a:pPr algn="ctr">
              <a:defRPr sz="1500" b="1">
                <a:solidFill>
                  <a:srgbClr val="F7FAFC"/>
                </a:solidFill>
              </a:defRPr>
            </a:pPr>
            <a:r>
              <a:rPr sz="1500" b="1">
                <a:solidFill>
                  <a:srgbClr val="F7FAFC"/>
                </a:solidFill>
              </a:rPr>
              <a:t>JPA Adapter·Entity</a:t>
            </a:r>
          </a:p>
        </p:txBody>
      </p:sp>
      <p:sp>
        <p:nvSpPr>
          <p:cNvPr id="14" name="postgres-box">
            <a:extLst xmlns:a="http://schemas.openxmlformats.org/drawingml/2006/main">
              <a:ext uri="{FF2B5EF4-FFF2-40B4-BE49-F238E27FC236}">
                <a16:creationId xmlns:a16="http://schemas.microsoft.com/office/drawing/2014/main" id="{D3AC71DA-4065-455F-AB21-5948A78B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1005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7304A"/>
          </a:solidFill>
          <a:ln xmlns:a="http://schemas.openxmlformats.org/drawingml/2006/main" w="9525">
            <a:solidFill>
              <a:srgbClr val="60708A"/>
            </a:solidFill>
            <a:prstDash val="solid"/>
          </a:ln>
        </p:spPr>
      </p:sp>
      <p:sp>
        <p:nvSpPr>
          <p:cNvPr id="15" name="postgres-text">
            <a:extLst xmlns:a="http://schemas.openxmlformats.org/drawingml/2006/main">
              <a:ext uri="{FF2B5EF4-FFF2-40B4-BE49-F238E27FC236}">
                <a16:creationId xmlns:a16="http://schemas.microsoft.com/office/drawing/2014/main" id="{B4074F70-390D-4578-90DD-E90206D9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48150"/>
            <a:ext cx="123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ECF8E"/>
                </a:solidFill>
              </a:defRPr>
            </a:pPr>
            <a:r>
              <a:rPr sz="1425" b="1">
                <a:solidFill>
                  <a:srgbClr val="3ECF8E"/>
                </a:solidFill>
              </a:rPr>
              <a:t>PostgreSQL</a:t>
            </a:r>
          </a:p>
          <a:p xmlns:a="http://schemas.openxmlformats.org/drawingml/2006/main">
            <a:pPr algn="ctr">
              <a:defRPr sz="1425" b="1">
                <a:solidFill>
                  <a:srgbClr val="3ECF8E"/>
                </a:solidFill>
              </a:defRPr>
            </a:pPr>
            <a:r>
              <a:rPr sz="1425" b="1">
                <a:solidFill>
                  <a:srgbClr val="3ECF8E"/>
                </a:solidFill>
              </a:rPr>
              <a:t>profiles</a:t>
            </a:r>
          </a:p>
        </p:txBody>
      </p:sp>
      <p:sp>
        <p:nvSpPr>
          <p:cNvPr id="16" name="rule-993-374">
            <a:extLst xmlns:a="http://schemas.openxmlformats.org/drawingml/2006/main">
              <a:ext uri="{FF2B5EF4-FFF2-40B4-BE49-F238E27FC236}">
                <a16:creationId xmlns:a16="http://schemas.microsoft.com/office/drawing/2014/main" id="{6C155112-CB76-4CA7-B077-248437A5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56235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ember-flow-top">
            <a:extLst xmlns:a="http://schemas.openxmlformats.org/drawingml/2006/main">
              <a:ext uri="{FF2B5EF4-FFF2-40B4-BE49-F238E27FC236}">
                <a16:creationId xmlns:a16="http://schemas.microsoft.com/office/drawing/2014/main" id="{48E516D0-D856-46BB-9E7B-C299C78D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C948"/>
                </a:solidFill>
              </a:defRPr>
            </a:pPr>
            <a:r>
              <a:rPr sz="1500" b="1">
                <a:solidFill>
                  <a:srgbClr val="F7C948"/>
                </a:solidFill>
              </a:rPr>
              <a:t>JWT sub → MemberId → Application Service → Domain Contract → JPA</a:t>
            </a:r>
          </a:p>
        </p:txBody>
      </p:sp>
      <p:sp>
        <p:nvSpPr>
          <p:cNvPr id="18" name="member-point-1">
            <a:extLst xmlns:a="http://schemas.openxmlformats.org/drawingml/2006/main">
              <a:ext uri="{FF2B5EF4-FFF2-40B4-BE49-F238E27FC236}">
                <a16:creationId xmlns:a16="http://schemas.microsoft.com/office/drawing/2014/main" id="{A70AABE6-3ED7-4A40-BAA0-11274A2B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</a:defRPr>
            </a:pPr>
            <a:r>
              <a:rPr sz="1500" b="1">
                <a:solidFill>
                  <a:srgbClr val="F7FAFC"/>
                </a:solidFill>
              </a:rPr>
              <a:t>요청의 userId를 신뢰하지 않음</a:t>
            </a:r>
          </a:p>
        </p:txBody>
      </p:sp>
      <p:sp>
        <p:nvSpPr>
          <p:cNvPr id="19" name="member-point-1-sub">
            <a:extLst xmlns:a="http://schemas.openxmlformats.org/drawingml/2006/main">
              <a:ext uri="{FF2B5EF4-FFF2-40B4-BE49-F238E27FC236}">
                <a16:creationId xmlns:a16="http://schemas.microsoft.com/office/drawing/2014/main" id="{CB2C7B99-4199-453D-B4B7-69BF1B2F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3C7"/>
                </a:solidFill>
              </a:defRPr>
            </a:pPr>
            <a:r>
              <a:rPr sz="1275" b="0">
                <a:solidFill>
                  <a:srgbClr val="A8B3C7"/>
                </a:solidFill>
              </a:rPr>
              <a:t>검증된 JWT subject만 현재 회원으로 사용</a:t>
            </a:r>
          </a:p>
        </p:txBody>
      </p:sp>
      <p:sp>
        <p:nvSpPr>
          <p:cNvPr id="20" name="member-point-2">
            <a:extLst xmlns:a="http://schemas.openxmlformats.org/drawingml/2006/main">
              <a:ext uri="{FF2B5EF4-FFF2-40B4-BE49-F238E27FC236}">
                <a16:creationId xmlns:a16="http://schemas.microsoft.com/office/drawing/2014/main" id="{189AA7DF-CA34-4A90-81DC-4793E30B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910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</a:defRPr>
            </a:pPr>
            <a:r>
              <a:rPr sz="1500" b="1">
                <a:solidFill>
                  <a:srgbClr val="F7FAFC"/>
                </a:solidFill>
              </a:rPr>
              <a:t>JPA Entity ≠ Domain Model</a:t>
            </a:r>
          </a:p>
        </p:txBody>
      </p:sp>
      <p:sp>
        <p:nvSpPr>
          <p:cNvPr id="21" name="member-point-2-sub">
            <a:extLst xmlns:a="http://schemas.openxmlformats.org/drawingml/2006/main">
              <a:ext uri="{FF2B5EF4-FFF2-40B4-BE49-F238E27FC236}">
                <a16:creationId xmlns:a16="http://schemas.microsoft.com/office/drawing/2014/main" id="{F5F03CAE-DDBE-4670-9842-85C55240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530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3C7"/>
                </a:solidFill>
              </a:defRPr>
            </a:pPr>
            <a:r>
              <a:rPr sz="1275" b="0">
                <a:solidFill>
                  <a:srgbClr val="A8B3C7"/>
                </a:solidFill>
              </a:rPr>
              <a:t>기존 DB 구조를 유지하면서 책임을 먼저 분리</a:t>
            </a:r>
          </a:p>
        </p:txBody>
      </p:sp>
      <p:sp>
        <p:nvSpPr>
          <p:cNvPr id="22" name="footer-6">
            <a:extLst xmlns:a="http://schemas.openxmlformats.org/drawingml/2006/main">
              <a:ext uri="{FF2B5EF4-FFF2-40B4-BE49-F238E27FC236}">
                <a16:creationId xmlns:a16="http://schemas.microsoft.com/office/drawing/2014/main" id="{BCB8A433-E9BC-40B1-9CA1-EC78E48B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UDAADAA · BACKEND MIGRATION</a:t>
            </a:r>
          </a:p>
        </p:txBody>
      </p:sp>
      <p:sp>
        <p:nvSpPr>
          <p:cNvPr id="23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BAFD1774-3459-4400-8912-D393B6F5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6 / 8</a:t>
            </a:r>
          </a:p>
        </p:txBody>
      </p:sp>
    </p:spTree>
    <p:extLst>
      <p:ext uri="{BB962C8B-B14F-4D97-AF65-F5344CB8AC3E}">
        <p14:creationId xmlns:p14="http://schemas.microsoft.com/office/powerpoint/2010/main" val="17079004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slide-no-7">
            <a:extLst xmlns:a="http://schemas.openxmlformats.org/drawingml/2006/main">
              <a:ext uri="{FF2B5EF4-FFF2-40B4-BE49-F238E27FC236}">
                <a16:creationId xmlns:a16="http://schemas.microsoft.com/office/drawing/2014/main" id="{CD19158C-8983-4C48-8C41-CA23E343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ECF8E"/>
                </a:solidFill>
              </a:defRPr>
            </a:pPr>
            <a:r>
              <a:rPr sz="1125" b="1">
                <a:solidFill>
                  <a:srgbClr val="3ECF8E"/>
                </a:solidFill>
              </a:rPr>
              <a:t>07</a:t>
            </a:r>
          </a:p>
        </p:txBody>
      </p:sp>
      <p:sp>
        <p:nvSpPr>
          <p:cNvPr id="2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FE047D34-DB1D-430F-AC10-064DA0AC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AFC"/>
                </a:solidFill>
              </a:defRPr>
            </a:pPr>
            <a:r>
              <a:rPr sz="2850" b="1">
                <a:solidFill>
                  <a:srgbClr val="F7FAFC"/>
                </a:solidFill>
              </a:rPr>
              <a:t>공통 기반에서 시작해 도메인별로 쓰기 주체를 옮긴다</a:t>
            </a:r>
          </a:p>
        </p:txBody>
      </p:sp>
      <p:sp>
        <p:nvSpPr>
          <p:cNvPr id="3" name="slide-subtitle-7">
            <a:extLst xmlns:a="http://schemas.openxmlformats.org/drawingml/2006/main">
              <a:ext uri="{FF2B5EF4-FFF2-40B4-BE49-F238E27FC236}">
                <a16:creationId xmlns:a16="http://schemas.microsoft.com/office/drawing/2014/main" id="{ACF1F945-C5DA-47DF-ADA4-E2D78043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3C7"/>
                </a:solidFill>
              </a:defRPr>
            </a:pPr>
            <a:r>
              <a:rPr sz="1425" b="0">
                <a:solidFill>
                  <a:srgbClr val="A8B3C7"/>
                </a:solidFill>
              </a:rPr>
              <a:t>각 Phase는 완료 증거와 롤백 기준을 갖고 다음 단계로 넘어간다.</a:t>
            </a:r>
          </a:p>
        </p:txBody>
      </p:sp>
      <p:sp>
        <p:nvSpPr>
          <p:cNvPr id="4" name="rule-68-194">
            <a:extLst xmlns:a="http://schemas.openxmlformats.org/drawingml/2006/main">
              <a:ext uri="{FF2B5EF4-FFF2-40B4-BE49-F238E27FC236}">
                <a16:creationId xmlns:a16="http://schemas.microsoft.com/office/drawing/2014/main" id="{B4F2968B-1D20-4AAA-B7A2-F38DAF41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112-348">
            <a:extLst xmlns:a="http://schemas.openxmlformats.org/drawingml/2006/main">
              <a:ext uri="{FF2B5EF4-FFF2-40B4-BE49-F238E27FC236}">
                <a16:creationId xmlns:a16="http://schemas.microsoft.com/office/drawing/2014/main" id="{7AD863C0-FB58-4679-ACCE-9B3A5006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000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hase-dot-0">
            <a:extLst xmlns:a="http://schemas.openxmlformats.org/drawingml/2006/main">
              <a:ext uri="{FF2B5EF4-FFF2-40B4-BE49-F238E27FC236}">
                <a16:creationId xmlns:a16="http://schemas.microsoft.com/office/drawing/2014/main" id="{DA0B8666-2493-459D-BEE6-380A8078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0670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ECF8E"/>
          </a:solidFill>
          <a:ln xmlns:a="http://schemas.openxmlformats.org/drawingml/2006/main" w="0">
            <a:solidFill>
              <a:srgbClr val="3ECF8E"/>
            </a:solidFill>
            <a:prstDash val="solid"/>
          </a:ln>
        </p:spPr>
      </p:sp>
      <p:sp>
        <p:nvSpPr>
          <p:cNvPr id="7" name="phase-num-0">
            <a:extLst xmlns:a="http://schemas.openxmlformats.org/drawingml/2006/main">
              <a:ext uri="{FF2B5EF4-FFF2-40B4-BE49-F238E27FC236}">
                <a16:creationId xmlns:a16="http://schemas.microsoft.com/office/drawing/2014/main" id="{5BF820D2-1291-436A-BD6E-B4CEA2FD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0765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111F"/>
                </a:solidFill>
              </a:defRPr>
            </a:pPr>
            <a:r>
              <a:rPr sz="1425" b="1">
                <a:solidFill>
                  <a:srgbClr val="07111F"/>
                </a:solidFill>
              </a:rPr>
              <a:t>0</a:t>
            </a:r>
          </a:p>
        </p:txBody>
      </p:sp>
      <p:sp>
        <p:nvSpPr>
          <p:cNvPr id="8" name="phase-name-0">
            <a:extLst xmlns:a="http://schemas.openxmlformats.org/drawingml/2006/main">
              <a:ext uri="{FF2B5EF4-FFF2-40B4-BE49-F238E27FC236}">
                <a16:creationId xmlns:a16="http://schemas.microsoft.com/office/drawing/2014/main" id="{A2CB5C83-4682-4F0C-9EC3-884AC233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Foundation</a:t>
            </a:r>
          </a:p>
        </p:txBody>
      </p:sp>
      <p:sp>
        <p:nvSpPr>
          <p:cNvPr id="9" name="phase-state-0">
            <a:extLst xmlns:a="http://schemas.openxmlformats.org/drawingml/2006/main">
              <a:ext uri="{FF2B5EF4-FFF2-40B4-BE49-F238E27FC236}">
                <a16:creationId xmlns:a16="http://schemas.microsoft.com/office/drawing/2014/main" id="{3CEC8A08-FAAA-4B4E-9C12-415AA42D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243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ECF8E"/>
                </a:solidFill>
              </a:defRPr>
            </a:pPr>
            <a:r>
              <a:rPr sz="1050" b="1">
                <a:solidFill>
                  <a:srgbClr val="3ECF8E"/>
                </a:solidFill>
              </a:rPr>
              <a:t>완료</a:t>
            </a:r>
          </a:p>
        </p:txBody>
      </p:sp>
      <p:sp>
        <p:nvSpPr>
          <p:cNvPr id="10" name="phase-dot-1">
            <a:extLst xmlns:a="http://schemas.openxmlformats.org/drawingml/2006/main">
              <a:ext uri="{FF2B5EF4-FFF2-40B4-BE49-F238E27FC236}">
                <a16:creationId xmlns:a16="http://schemas.microsoft.com/office/drawing/2014/main" id="{52189CA7-C461-4BC3-A5BF-E0102EB9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670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6DB33F"/>
          </a:solidFill>
          <a:ln xmlns:a="http://schemas.openxmlformats.org/drawingml/2006/main" w="0">
            <a:solidFill>
              <a:srgbClr val="6DB33F"/>
            </a:solidFill>
            <a:prstDash val="solid"/>
          </a:ln>
        </p:spPr>
      </p:sp>
      <p:sp>
        <p:nvSpPr>
          <p:cNvPr id="11" name="phase-num-1">
            <a:extLst xmlns:a="http://schemas.openxmlformats.org/drawingml/2006/main">
              <a:ext uri="{FF2B5EF4-FFF2-40B4-BE49-F238E27FC236}">
                <a16:creationId xmlns:a16="http://schemas.microsoft.com/office/drawing/2014/main" id="{A63757DA-1843-43D1-9CAE-571725DC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765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111F"/>
                </a:solidFill>
              </a:defRPr>
            </a:pPr>
            <a:r>
              <a:rPr sz="1425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2" name="phase-name-1">
            <a:extLst xmlns:a="http://schemas.openxmlformats.org/drawingml/2006/main">
              <a:ext uri="{FF2B5EF4-FFF2-40B4-BE49-F238E27FC236}">
                <a16:creationId xmlns:a16="http://schemas.microsoft.com/office/drawing/2014/main" id="{AADED294-822A-4E3D-A8E2-0686E582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81000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Member</a:t>
            </a:r>
          </a:p>
        </p:txBody>
      </p:sp>
      <p:sp>
        <p:nvSpPr>
          <p:cNvPr id="13" name="phase-state-1">
            <a:extLst xmlns:a="http://schemas.openxmlformats.org/drawingml/2006/main">
              <a:ext uri="{FF2B5EF4-FFF2-40B4-BE49-F238E27FC236}">
                <a16:creationId xmlns:a16="http://schemas.microsoft.com/office/drawing/2014/main" id="{374F4558-8897-48D1-8C00-43112591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3243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DB33F"/>
                </a:solidFill>
              </a:defRPr>
            </a:pPr>
            <a:r>
              <a:rPr sz="1050" b="1">
                <a:solidFill>
                  <a:srgbClr val="6DB33F"/>
                </a:solidFill>
              </a:rPr>
              <a:t>진행</a:t>
            </a:r>
          </a:p>
        </p:txBody>
      </p:sp>
      <p:sp>
        <p:nvSpPr>
          <p:cNvPr id="14" name="phase-dot-2">
            <a:extLst xmlns:a="http://schemas.openxmlformats.org/drawingml/2006/main">
              <a:ext uri="{FF2B5EF4-FFF2-40B4-BE49-F238E27FC236}">
                <a16:creationId xmlns:a16="http://schemas.microsoft.com/office/drawing/2014/main" id="{843DBE23-06B3-419C-BD2B-1BCDBED3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0670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60708A"/>
          </a:solidFill>
          <a:ln xmlns:a="http://schemas.openxmlformats.org/drawingml/2006/main" w="0">
            <a:solidFill>
              <a:srgbClr val="60708A"/>
            </a:solidFill>
            <a:prstDash val="solid"/>
          </a:ln>
        </p:spPr>
      </p:sp>
      <p:sp>
        <p:nvSpPr>
          <p:cNvPr id="15" name="phase-num-2">
            <a:extLst xmlns:a="http://schemas.openxmlformats.org/drawingml/2006/main">
              <a:ext uri="{FF2B5EF4-FFF2-40B4-BE49-F238E27FC236}">
                <a16:creationId xmlns:a16="http://schemas.microsoft.com/office/drawing/2014/main" id="{674D0257-5A2E-40B9-9A0C-C5872CA5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0765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2</a:t>
            </a:r>
          </a:p>
        </p:txBody>
      </p:sp>
      <p:sp>
        <p:nvSpPr>
          <p:cNvPr id="16" name="phase-name-2">
            <a:extLst xmlns:a="http://schemas.openxmlformats.org/drawingml/2006/main">
              <a:ext uri="{FF2B5EF4-FFF2-40B4-BE49-F238E27FC236}">
                <a16:creationId xmlns:a16="http://schemas.microsoft.com/office/drawing/2014/main" id="{5DC6871B-47B4-47D2-A10F-E9BA0C3E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Moderation</a:t>
            </a:r>
          </a:p>
        </p:txBody>
      </p:sp>
      <p:sp>
        <p:nvSpPr>
          <p:cNvPr id="17" name="phase-state-2">
            <a:extLst xmlns:a="http://schemas.openxmlformats.org/drawingml/2006/main">
              <a:ext uri="{FF2B5EF4-FFF2-40B4-BE49-F238E27FC236}">
                <a16:creationId xmlns:a16="http://schemas.microsoft.com/office/drawing/2014/main" id="{A766ECA9-33EB-45B6-BBA3-0B769BA3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243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0708A"/>
                </a:solidFill>
              </a:defRPr>
            </a:pPr>
            <a:r>
              <a:rPr sz="1050" b="1">
                <a:solidFill>
                  <a:srgbClr val="60708A"/>
                </a:solidFill>
              </a:rPr>
              <a:t>예정</a:t>
            </a:r>
          </a:p>
        </p:txBody>
      </p:sp>
      <p:sp>
        <p:nvSpPr>
          <p:cNvPr id="18" name="phase-dot-3">
            <a:extLst xmlns:a="http://schemas.openxmlformats.org/drawingml/2006/main">
              <a:ext uri="{FF2B5EF4-FFF2-40B4-BE49-F238E27FC236}">
                <a16:creationId xmlns:a16="http://schemas.microsoft.com/office/drawing/2014/main" id="{EBE5366C-8552-4D0A-8DD8-F90AAED2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670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60708A"/>
          </a:solidFill>
          <a:ln xmlns:a="http://schemas.openxmlformats.org/drawingml/2006/main" w="0">
            <a:solidFill>
              <a:srgbClr val="60708A"/>
            </a:solidFill>
            <a:prstDash val="solid"/>
          </a:ln>
        </p:spPr>
      </p:sp>
      <p:sp>
        <p:nvSpPr>
          <p:cNvPr id="19" name="phase-num-3">
            <a:extLst xmlns:a="http://schemas.openxmlformats.org/drawingml/2006/main">
              <a:ext uri="{FF2B5EF4-FFF2-40B4-BE49-F238E27FC236}">
                <a16:creationId xmlns:a16="http://schemas.microsoft.com/office/drawing/2014/main" id="{DD5EC451-4E77-416E-A002-3EE7B8D1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765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3</a:t>
            </a:r>
          </a:p>
        </p:txBody>
      </p:sp>
      <p:sp>
        <p:nvSpPr>
          <p:cNvPr id="20" name="phase-name-3">
            <a:extLst xmlns:a="http://schemas.openxmlformats.org/drawingml/2006/main">
              <a:ext uri="{FF2B5EF4-FFF2-40B4-BE49-F238E27FC236}">
                <a16:creationId xmlns:a16="http://schemas.microsoft.com/office/drawing/2014/main" id="{FB7BF879-0AD3-4D4A-9741-2DBD167C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81000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Chat + Push</a:t>
            </a:r>
          </a:p>
        </p:txBody>
      </p:sp>
      <p:sp>
        <p:nvSpPr>
          <p:cNvPr id="21" name="phase-state-3">
            <a:extLst xmlns:a="http://schemas.openxmlformats.org/drawingml/2006/main">
              <a:ext uri="{FF2B5EF4-FFF2-40B4-BE49-F238E27FC236}">
                <a16:creationId xmlns:a16="http://schemas.microsoft.com/office/drawing/2014/main" id="{ECF2BB50-EBFE-4E56-933D-5A5EA4AC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3243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0708A"/>
                </a:solidFill>
              </a:defRPr>
            </a:pPr>
            <a:r>
              <a:rPr sz="1050" b="1">
                <a:solidFill>
                  <a:srgbClr val="60708A"/>
                </a:solidFill>
              </a:rPr>
              <a:t>예정</a:t>
            </a:r>
          </a:p>
        </p:txBody>
      </p:sp>
      <p:sp>
        <p:nvSpPr>
          <p:cNvPr id="22" name="phase-dot-4">
            <a:extLst xmlns:a="http://schemas.openxmlformats.org/drawingml/2006/main">
              <a:ext uri="{FF2B5EF4-FFF2-40B4-BE49-F238E27FC236}">
                <a16:creationId xmlns:a16="http://schemas.microsoft.com/office/drawing/2014/main" id="{6A48D24C-74DA-48C2-A2D5-C0772C3C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0670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60708A"/>
          </a:solidFill>
          <a:ln xmlns:a="http://schemas.openxmlformats.org/drawingml/2006/main" w="0">
            <a:solidFill>
              <a:srgbClr val="60708A"/>
            </a:solidFill>
            <a:prstDash val="solid"/>
          </a:ln>
        </p:spPr>
      </p:sp>
      <p:sp>
        <p:nvSpPr>
          <p:cNvPr id="23" name="phase-num-4">
            <a:extLst xmlns:a="http://schemas.openxmlformats.org/drawingml/2006/main">
              <a:ext uri="{FF2B5EF4-FFF2-40B4-BE49-F238E27FC236}">
                <a16:creationId xmlns:a16="http://schemas.microsoft.com/office/drawing/2014/main" id="{97A2686F-70AA-4673-BD0C-33C9B800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0765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4</a:t>
            </a:r>
          </a:p>
        </p:txBody>
      </p:sp>
      <p:sp>
        <p:nvSpPr>
          <p:cNvPr id="24" name="phase-name-4">
            <a:extLst xmlns:a="http://schemas.openxmlformats.org/drawingml/2006/main">
              <a:ext uri="{FF2B5EF4-FFF2-40B4-BE49-F238E27FC236}">
                <a16:creationId xmlns:a16="http://schemas.microsoft.com/office/drawing/2014/main" id="{397508E6-60AC-4E98-8469-472CD5E4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1000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Challenge</a:t>
            </a:r>
          </a:p>
        </p:txBody>
      </p:sp>
      <p:sp>
        <p:nvSpPr>
          <p:cNvPr id="25" name="phase-state-4">
            <a:extLst xmlns:a="http://schemas.openxmlformats.org/drawingml/2006/main">
              <a:ext uri="{FF2B5EF4-FFF2-40B4-BE49-F238E27FC236}">
                <a16:creationId xmlns:a16="http://schemas.microsoft.com/office/drawing/2014/main" id="{AE949AD0-9445-4640-9018-D4671652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243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0708A"/>
                </a:solidFill>
              </a:defRPr>
            </a:pPr>
            <a:r>
              <a:rPr sz="1050" b="1">
                <a:solidFill>
                  <a:srgbClr val="60708A"/>
                </a:solidFill>
              </a:rPr>
              <a:t>예정</a:t>
            </a:r>
          </a:p>
        </p:txBody>
      </p:sp>
      <p:sp>
        <p:nvSpPr>
          <p:cNvPr id="26" name="phase-dot-5">
            <a:extLst xmlns:a="http://schemas.openxmlformats.org/drawingml/2006/main">
              <a:ext uri="{FF2B5EF4-FFF2-40B4-BE49-F238E27FC236}">
                <a16:creationId xmlns:a16="http://schemas.microsoft.com/office/drawing/2014/main" id="{03533BAE-BC11-4146-8B37-0ED863B0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670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60708A"/>
          </a:solidFill>
          <a:ln xmlns:a="http://schemas.openxmlformats.org/drawingml/2006/main" w="0">
            <a:solidFill>
              <a:srgbClr val="60708A"/>
            </a:solidFill>
            <a:prstDash val="solid"/>
          </a:ln>
        </p:spPr>
      </p:sp>
      <p:sp>
        <p:nvSpPr>
          <p:cNvPr id="27" name="phase-num-5">
            <a:extLst xmlns:a="http://schemas.openxmlformats.org/drawingml/2006/main">
              <a:ext uri="{FF2B5EF4-FFF2-40B4-BE49-F238E27FC236}">
                <a16:creationId xmlns:a16="http://schemas.microsoft.com/office/drawing/2014/main" id="{DB6E818C-68B2-4A48-A923-0230469D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765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5</a:t>
            </a:r>
          </a:p>
        </p:txBody>
      </p:sp>
      <p:sp>
        <p:nvSpPr>
          <p:cNvPr id="28" name="phase-name-5">
            <a:extLst xmlns:a="http://schemas.openxmlformats.org/drawingml/2006/main">
              <a:ext uri="{FF2B5EF4-FFF2-40B4-BE49-F238E27FC236}">
                <a16:creationId xmlns:a16="http://schemas.microsoft.com/office/drawing/2014/main" id="{1B523F23-1C49-4AB8-AF03-0D0264AC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81000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Record</a:t>
            </a:r>
          </a:p>
        </p:txBody>
      </p:sp>
      <p:sp>
        <p:nvSpPr>
          <p:cNvPr id="29" name="phase-state-5">
            <a:extLst xmlns:a="http://schemas.openxmlformats.org/drawingml/2006/main">
              <a:ext uri="{FF2B5EF4-FFF2-40B4-BE49-F238E27FC236}">
                <a16:creationId xmlns:a16="http://schemas.microsoft.com/office/drawing/2014/main" id="{5E0131C7-3E02-4C61-A176-127059EB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3243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0708A"/>
                </a:solidFill>
              </a:defRPr>
            </a:pPr>
            <a:r>
              <a:rPr sz="1050" b="1">
                <a:solidFill>
                  <a:srgbClr val="60708A"/>
                </a:solidFill>
              </a:rPr>
              <a:t>예정</a:t>
            </a:r>
          </a:p>
        </p:txBody>
      </p:sp>
      <p:sp>
        <p:nvSpPr>
          <p:cNvPr id="30" name="phase-dot-6">
            <a:extLst xmlns:a="http://schemas.openxmlformats.org/drawingml/2006/main">
              <a:ext uri="{FF2B5EF4-FFF2-40B4-BE49-F238E27FC236}">
                <a16:creationId xmlns:a16="http://schemas.microsoft.com/office/drawing/2014/main" id="{E60176EE-E728-409A-BD09-88505058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670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60708A"/>
          </a:solidFill>
          <a:ln xmlns:a="http://schemas.openxmlformats.org/drawingml/2006/main" w="0">
            <a:solidFill>
              <a:srgbClr val="60708A"/>
            </a:solidFill>
            <a:prstDash val="solid"/>
          </a:ln>
        </p:spPr>
      </p:sp>
      <p:sp>
        <p:nvSpPr>
          <p:cNvPr id="31" name="phase-num-6">
            <a:extLst xmlns:a="http://schemas.openxmlformats.org/drawingml/2006/main">
              <a:ext uri="{FF2B5EF4-FFF2-40B4-BE49-F238E27FC236}">
                <a16:creationId xmlns:a16="http://schemas.microsoft.com/office/drawing/2014/main" id="{CA1602A4-780E-4041-887C-FDA00E91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765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6</a:t>
            </a:r>
          </a:p>
        </p:txBody>
      </p:sp>
      <p:sp>
        <p:nvSpPr>
          <p:cNvPr id="32" name="phase-name-6">
            <a:extLst xmlns:a="http://schemas.openxmlformats.org/drawingml/2006/main">
              <a:ext uri="{FF2B5EF4-FFF2-40B4-BE49-F238E27FC236}">
                <a16:creationId xmlns:a16="http://schemas.microsoft.com/office/drawing/2014/main" id="{CB5B93AA-5541-45D3-89F6-C062E97B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1000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Social</a:t>
            </a:r>
          </a:p>
        </p:txBody>
      </p:sp>
      <p:sp>
        <p:nvSpPr>
          <p:cNvPr id="33" name="phase-state-6">
            <a:extLst xmlns:a="http://schemas.openxmlformats.org/drawingml/2006/main">
              <a:ext uri="{FF2B5EF4-FFF2-40B4-BE49-F238E27FC236}">
                <a16:creationId xmlns:a16="http://schemas.microsoft.com/office/drawing/2014/main" id="{A1B5EAEE-BF42-47E3-9CEA-EC0E0EDF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3243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0708A"/>
                </a:solidFill>
              </a:defRPr>
            </a:pPr>
            <a:r>
              <a:rPr sz="1050" b="1">
                <a:solidFill>
                  <a:srgbClr val="60708A"/>
                </a:solidFill>
              </a:rPr>
              <a:t>예정</a:t>
            </a:r>
          </a:p>
        </p:txBody>
      </p:sp>
      <p:sp>
        <p:nvSpPr>
          <p:cNvPr id="34" name="phase-dot-7">
            <a:extLst xmlns:a="http://schemas.openxmlformats.org/drawingml/2006/main">
              <a:ext uri="{FF2B5EF4-FFF2-40B4-BE49-F238E27FC236}">
                <a16:creationId xmlns:a16="http://schemas.microsoft.com/office/drawing/2014/main" id="{26770D1F-85E5-4001-BE06-F4852CA4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0670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60708A"/>
          </a:solidFill>
          <a:ln xmlns:a="http://schemas.openxmlformats.org/drawingml/2006/main" w="0">
            <a:solidFill>
              <a:srgbClr val="60708A"/>
            </a:solidFill>
            <a:prstDash val="solid"/>
          </a:ln>
        </p:spPr>
      </p:sp>
      <p:sp>
        <p:nvSpPr>
          <p:cNvPr id="35" name="phase-num-7">
            <a:extLst xmlns:a="http://schemas.openxmlformats.org/drawingml/2006/main">
              <a:ext uri="{FF2B5EF4-FFF2-40B4-BE49-F238E27FC236}">
                <a16:creationId xmlns:a16="http://schemas.microsoft.com/office/drawing/2014/main" id="{67DB2D1F-64FE-4CB7-84CE-F80993BA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0765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7–8</a:t>
            </a:r>
          </a:p>
        </p:txBody>
      </p:sp>
      <p:sp>
        <p:nvSpPr>
          <p:cNvPr id="36" name="phase-name-7">
            <a:extLst xmlns:a="http://schemas.openxmlformats.org/drawingml/2006/main">
              <a:ext uri="{FF2B5EF4-FFF2-40B4-BE49-F238E27FC236}">
                <a16:creationId xmlns:a16="http://schemas.microsoft.com/office/drawing/2014/main" id="{15FF89CC-ABD5-48EA-B8D8-06F1AD5F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81000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탈퇴·안정화</a:t>
            </a:r>
          </a:p>
        </p:txBody>
      </p:sp>
      <p:sp>
        <p:nvSpPr>
          <p:cNvPr id="37" name="phase-state-7">
            <a:extLst xmlns:a="http://schemas.openxmlformats.org/drawingml/2006/main">
              <a:ext uri="{FF2B5EF4-FFF2-40B4-BE49-F238E27FC236}">
                <a16:creationId xmlns:a16="http://schemas.microsoft.com/office/drawing/2014/main" id="{ECEE2232-FB26-462F-B42D-815D334D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3243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0708A"/>
                </a:solidFill>
              </a:defRPr>
            </a:pPr>
            <a:r>
              <a:rPr sz="1050" b="1">
                <a:solidFill>
                  <a:srgbClr val="60708A"/>
                </a:solidFill>
              </a:rPr>
              <a:t>예정</a:t>
            </a:r>
          </a:p>
        </p:txBody>
      </p:sp>
      <p:sp>
        <p:nvSpPr>
          <p:cNvPr id="38" name="roadmap-bottom">
            <a:extLst xmlns:a="http://schemas.openxmlformats.org/drawingml/2006/main">
              <a:ext uri="{FF2B5EF4-FFF2-40B4-BE49-F238E27FC236}">
                <a16:creationId xmlns:a16="http://schemas.microsoft.com/office/drawing/2014/main" id="{68261EBE-6017-480F-A262-0587BB96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ECF8E"/>
                </a:solidFill>
              </a:defRPr>
            </a:pPr>
            <a:r>
              <a:rPr sz="1275" b="1">
                <a:solidFill>
                  <a:srgbClr val="3ECF8E"/>
                </a:solidFill>
              </a:rPr>
              <a:t>전환 원칙</a:t>
            </a:r>
          </a:p>
        </p:txBody>
      </p:sp>
      <p:sp>
        <p:nvSpPr>
          <p:cNvPr id="39" name="roadmap-flow">
            <a:extLst xmlns:a="http://schemas.openxmlformats.org/drawingml/2006/main">
              <a:ext uri="{FF2B5EF4-FFF2-40B4-BE49-F238E27FC236}">
                <a16:creationId xmlns:a16="http://schemas.microsoft.com/office/drawing/2014/main" id="{0311F717-D6C7-4C06-94FF-70A7339A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1497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</a:defRPr>
            </a:pPr>
            <a:r>
              <a:rPr sz="1575" b="1">
                <a:solidFill>
                  <a:srgbClr val="F7FAFC"/>
                </a:solidFill>
              </a:rPr>
              <a:t>기존 읽기 유지  →  Spring 결과 비교  →  Spring 쓰기 검증  →  Flutter 전환  →  직접 의존 제거</a:t>
            </a:r>
          </a:p>
        </p:txBody>
      </p:sp>
      <p:sp>
        <p:nvSpPr>
          <p:cNvPr id="40" name="footer-7">
            <a:extLst xmlns:a="http://schemas.openxmlformats.org/drawingml/2006/main">
              <a:ext uri="{FF2B5EF4-FFF2-40B4-BE49-F238E27FC236}">
                <a16:creationId xmlns:a16="http://schemas.microsoft.com/office/drawing/2014/main" id="{FD10A1FB-28F1-4A37-A666-07E14D91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UDAADAA · BACKEND MIGRATION</a:t>
            </a:r>
          </a:p>
        </p:txBody>
      </p:sp>
      <p:sp>
        <p:nvSpPr>
          <p:cNvPr id="41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A618A550-7BD5-4FA4-BD10-5B653399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7 / 8</a:t>
            </a:r>
          </a:p>
        </p:txBody>
      </p:sp>
    </p:spTree>
    <p:extLst>
      <p:ext uri="{BB962C8B-B14F-4D97-AF65-F5344CB8AC3E}">
        <p14:creationId xmlns:p14="http://schemas.microsoft.com/office/powerpoint/2010/main" val="4216408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no-8">
            <a:extLst xmlns:a="http://schemas.openxmlformats.org/drawingml/2006/main">
              <a:ext uri="{FF2B5EF4-FFF2-40B4-BE49-F238E27FC236}">
                <a16:creationId xmlns:a16="http://schemas.microsoft.com/office/drawing/2014/main" id="{09A8A5DE-E2B5-4627-AB1E-6051CE69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ECF8E"/>
                </a:solidFill>
              </a:defRPr>
            </a:pPr>
            <a:r>
              <a:rPr sz="1125" b="1">
                <a:solidFill>
                  <a:srgbClr val="3ECF8E"/>
                </a:solidFill>
              </a:rPr>
              <a:t>08</a:t>
            </a:r>
          </a:p>
        </p:txBody>
      </p:sp>
      <p:sp>
        <p:nvSpPr>
          <p:cNvPr id="2" name="slide-title-8">
            <a:extLst xmlns:a="http://schemas.openxmlformats.org/drawingml/2006/main">
              <a:ext uri="{FF2B5EF4-FFF2-40B4-BE49-F238E27FC236}">
                <a16:creationId xmlns:a16="http://schemas.microsoft.com/office/drawing/2014/main" id="{810A37F7-9290-42E0-9ADD-5208A4EC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AFC"/>
                </a:solidFill>
              </a:defRPr>
            </a:pPr>
            <a:r>
              <a:rPr sz="2850" b="1">
                <a:solidFill>
                  <a:srgbClr val="F7FAFC"/>
                </a:solidFill>
              </a:rPr>
              <a:t>설계는 실행 가능한 기반과 테스트 증거로 이어졌다</a:t>
            </a:r>
          </a:p>
        </p:txBody>
      </p:sp>
      <p:sp>
        <p:nvSpPr>
          <p:cNvPr id="3" name="slide-subtitle-8">
            <a:extLst xmlns:a="http://schemas.openxmlformats.org/drawingml/2006/main">
              <a:ext uri="{FF2B5EF4-FFF2-40B4-BE49-F238E27FC236}">
                <a16:creationId xmlns:a16="http://schemas.microsoft.com/office/drawing/2014/main" id="{FF35EF32-B0CE-45E2-BB5C-0469779B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3C7"/>
                </a:solidFill>
              </a:defRPr>
            </a:pPr>
            <a:r>
              <a:rPr sz="1425" b="0">
                <a:solidFill>
                  <a:srgbClr val="A8B3C7"/>
                </a:solidFill>
              </a:rPr>
              <a:t>현재는 로컬 검증을 마쳤고, 다음 단계는 실제 Supabase 비교와 Flutter Member 전환이다.</a:t>
            </a:r>
          </a:p>
        </p:txBody>
      </p:sp>
      <p:sp>
        <p:nvSpPr>
          <p:cNvPr id="4" name="rule-68-194">
            <a:extLst xmlns:a="http://schemas.openxmlformats.org/drawingml/2006/main">
              <a:ext uri="{FF2B5EF4-FFF2-40B4-BE49-F238E27FC236}">
                <a16:creationId xmlns:a16="http://schemas.microsoft.com/office/drawing/2014/main" id="{2D20AFCC-EDF5-4A4E-AC88-5CDE010E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16">
            <a:extLst xmlns:a="http://schemas.openxmlformats.org/drawingml/2006/main">
              <a:ext uri="{FF2B5EF4-FFF2-40B4-BE49-F238E27FC236}">
                <a16:creationId xmlns:a16="http://schemas.microsoft.com/office/drawing/2014/main" id="{BD440F15-8A5F-46F1-84F6-D69514CE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3ECF8E"/>
                </a:solidFill>
              </a:defRPr>
            </a:pPr>
            <a:r>
              <a:rPr sz="5400" b="1">
                <a:solidFill>
                  <a:srgbClr val="3ECF8E"/>
                </a:solidFill>
              </a:rPr>
              <a:t>16</a:t>
            </a:r>
          </a:p>
        </p:txBody>
      </p:sp>
      <p:sp>
        <p:nvSpPr>
          <p:cNvPr id="6" name="metric-16-label">
            <a:extLst xmlns:a="http://schemas.openxmlformats.org/drawingml/2006/main">
              <a:ext uri="{FF2B5EF4-FFF2-40B4-BE49-F238E27FC236}">
                <a16:creationId xmlns:a16="http://schemas.microsoft.com/office/drawing/2014/main" id="{3B5259F3-89B1-410C-849A-88C82CFC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146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</a:defRPr>
            </a:pPr>
            <a:r>
              <a:rPr sz="1500" b="1">
                <a:solidFill>
                  <a:srgbClr val="F7FAFC"/>
                </a:solidFill>
              </a:rPr>
              <a:t>자동 테스트</a:t>
            </a:r>
          </a:p>
        </p:txBody>
      </p:sp>
      <p:sp>
        <p:nvSpPr>
          <p:cNvPr id="7" name="metric-0">
            <a:extLst xmlns:a="http://schemas.openxmlformats.org/drawingml/2006/main">
              <a:ext uri="{FF2B5EF4-FFF2-40B4-BE49-F238E27FC236}">
                <a16:creationId xmlns:a16="http://schemas.microsoft.com/office/drawing/2014/main" id="{337E69CF-F599-4A69-883D-BB0DC6E4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907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6DB33F"/>
                </a:solidFill>
              </a:defRPr>
            </a:pPr>
            <a:r>
              <a:rPr sz="5400" b="1">
                <a:solidFill>
                  <a:srgbClr val="6DB33F"/>
                </a:solidFill>
              </a:rPr>
              <a:t>0</a:t>
            </a:r>
          </a:p>
        </p:txBody>
      </p:sp>
      <p:sp>
        <p:nvSpPr>
          <p:cNvPr id="8" name="metric-0-label">
            <a:extLst xmlns:a="http://schemas.openxmlformats.org/drawingml/2006/main">
              <a:ext uri="{FF2B5EF4-FFF2-40B4-BE49-F238E27FC236}">
                <a16:creationId xmlns:a16="http://schemas.microsoft.com/office/drawing/2014/main" id="{46CD68F5-E548-40C7-8920-FABF6516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146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</a:defRPr>
            </a:pPr>
            <a:r>
              <a:rPr sz="1500" b="1">
                <a:solidFill>
                  <a:srgbClr val="F7FAFC"/>
                </a:solidFill>
              </a:rPr>
              <a:t>실패</a:t>
            </a:r>
          </a:p>
        </p:txBody>
      </p:sp>
      <p:sp>
        <p:nvSpPr>
          <p:cNvPr id="9" name="metric-manual">
            <a:extLst xmlns:a="http://schemas.openxmlformats.org/drawingml/2006/main">
              <a:ext uri="{FF2B5EF4-FFF2-40B4-BE49-F238E27FC236}">
                <a16:creationId xmlns:a16="http://schemas.microsoft.com/office/drawing/2014/main" id="{38F383AB-FA88-4E21-957C-CD41EE9F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907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54C7EC"/>
                </a:solidFill>
              </a:defRPr>
            </a:pPr>
            <a:r>
              <a:rPr sz="5400" b="1">
                <a:solidFill>
                  <a:srgbClr val="54C7EC"/>
                </a:solidFill>
              </a:rPr>
              <a:t>12</a:t>
            </a:r>
          </a:p>
        </p:txBody>
      </p:sp>
      <p:sp>
        <p:nvSpPr>
          <p:cNvPr id="10" name="metric-manual-label">
            <a:extLst xmlns:a="http://schemas.openxmlformats.org/drawingml/2006/main">
              <a:ext uri="{FF2B5EF4-FFF2-40B4-BE49-F238E27FC236}">
                <a16:creationId xmlns:a16="http://schemas.microsoft.com/office/drawing/2014/main" id="{17D839B4-6248-4314-8203-9BE62A0E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146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</a:defRPr>
            </a:pPr>
            <a:r>
              <a:rPr sz="1500" b="1">
                <a:solidFill>
                  <a:srgbClr val="F7FAFC"/>
                </a:solidFill>
              </a:rPr>
              <a:t>수동 검증 시나리오</a:t>
            </a:r>
          </a:p>
        </p:txBody>
      </p:sp>
      <p:sp>
        <p:nvSpPr>
          <p:cNvPr id="11" name="rule-82-400">
            <a:extLst xmlns:a="http://schemas.openxmlformats.org/drawingml/2006/main">
              <a:ext uri="{FF2B5EF4-FFF2-40B4-BE49-F238E27FC236}">
                <a16:creationId xmlns:a16="http://schemas.microsoft.com/office/drawing/2014/main" id="{C5953A1F-D3FE-47AF-B141-3F63ABFA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628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erify-copy">
            <a:extLst xmlns:a="http://schemas.openxmlformats.org/drawingml/2006/main">
              <a:ext uri="{FF2B5EF4-FFF2-40B4-BE49-F238E27FC236}">
                <a16:creationId xmlns:a16="http://schemas.microsoft.com/office/drawing/2014/main" id="{2EA6E206-26BB-4E56-AEC4-15956D8B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647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3C7"/>
                </a:solidFill>
              </a:defRPr>
            </a:pPr>
            <a:r>
              <a:rPr sz="1500" b="0">
                <a:solidFill>
                  <a:srgbClr val="A8B3C7"/>
                </a:solidFill>
              </a:rPr>
              <a:t>JWT 인증 · 공통 오류 · traceId · RLS 호환성</a:t>
            </a:r>
          </a:p>
          <a:p xmlns:a="http://schemas.openxmlformats.org/drawingml/2006/main">
            <a:pPr algn="l">
              <a:defRPr sz="1500" b="0">
                <a:solidFill>
                  <a:srgbClr val="A8B3C7"/>
                </a:solidFill>
              </a:defRPr>
            </a:pPr>
            <a:r>
              <a:rPr sz="1500" b="0">
                <a:solidFill>
                  <a:srgbClr val="A8B3C7"/>
                </a:solidFill>
              </a:rPr>
              <a:t>Member 초기화·조회·수정 · 멱등성 · 중복 검증</a:t>
            </a:r>
          </a:p>
          <a:p xmlns:a="http://schemas.openxmlformats.org/drawingml/2006/main">
            <a:pPr algn="l">
              <a:defRPr sz="1500" b="0">
                <a:solidFill>
                  <a:srgbClr val="A8B3C7"/>
                </a:solidFill>
              </a:defRPr>
            </a:pPr>
            <a:r>
              <a:rPr sz="1500" b="0">
                <a:solidFill>
                  <a:srgbClr val="A8B3C7"/>
                </a:solidFill>
              </a:rPr>
              <a:t>Docker 로컬 DB와 Testcontainers 자동 DB 분리</a:t>
            </a:r>
          </a:p>
        </p:txBody>
      </p:sp>
      <p:sp>
        <p:nvSpPr>
          <p:cNvPr id="13" name="next-box">
            <a:extLst xmlns:a="http://schemas.openxmlformats.org/drawingml/2006/main">
              <a:ext uri="{FF2B5EF4-FFF2-40B4-BE49-F238E27FC236}">
                <a16:creationId xmlns:a16="http://schemas.microsoft.com/office/drawing/2014/main" id="{56625436-58D5-45B8-873A-61B3FC45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33600"/>
            <a:ext cx="39052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1243B"/>
          </a:solidFill>
          <a:ln xmlns:a="http://schemas.openxmlformats.org/drawingml/2006/main" w="9525">
            <a:solidFill>
              <a:srgbClr val="60708A"/>
            </a:solidFill>
            <a:prstDash val="solid"/>
          </a:ln>
        </p:spPr>
      </p:sp>
      <p:sp>
        <p:nvSpPr>
          <p:cNvPr id="14" name="next-title">
            <a:extLst xmlns:a="http://schemas.openxmlformats.org/drawingml/2006/main">
              <a:ext uri="{FF2B5EF4-FFF2-40B4-BE49-F238E27FC236}">
                <a16:creationId xmlns:a16="http://schemas.microsoft.com/office/drawing/2014/main" id="{C7A3FDE5-11C5-4EFB-B1C3-435AF319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81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C948"/>
                </a:solidFill>
              </a:defRPr>
            </a:pPr>
            <a:r>
              <a:rPr sz="1275" b="1">
                <a:solidFill>
                  <a:srgbClr val="F7C948"/>
                </a:solidFill>
              </a:rPr>
              <a:t>NEXT</a:t>
            </a:r>
          </a:p>
        </p:txBody>
      </p:sp>
      <p:sp>
        <p:nvSpPr>
          <p:cNvPr id="15" name="next-no-0">
            <a:extLst xmlns:a="http://schemas.openxmlformats.org/drawingml/2006/main">
              <a:ext uri="{FF2B5EF4-FFF2-40B4-BE49-F238E27FC236}">
                <a16:creationId xmlns:a16="http://schemas.microsoft.com/office/drawing/2014/main" id="{C840677D-6E62-4849-BBA6-FFC92777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95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ECF8E"/>
                </a:solidFill>
              </a:defRPr>
            </a:pPr>
            <a:r>
              <a:rPr sz="1125" b="1">
                <a:solidFill>
                  <a:srgbClr val="3ECF8E"/>
                </a:solidFill>
              </a:rPr>
              <a:t>01</a:t>
            </a:r>
          </a:p>
        </p:txBody>
      </p:sp>
      <p:sp>
        <p:nvSpPr>
          <p:cNvPr id="16" name="next-item-0">
            <a:extLst xmlns:a="http://schemas.openxmlformats.org/drawingml/2006/main">
              <a:ext uri="{FF2B5EF4-FFF2-40B4-BE49-F238E27FC236}">
                <a16:creationId xmlns:a16="http://schemas.microsoft.com/office/drawing/2014/main" id="{709E383E-23AC-4BFB-A7F1-38F510C3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575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</a:defRPr>
            </a:pPr>
            <a:r>
              <a:rPr sz="1500" b="1">
                <a:solidFill>
                  <a:srgbClr val="F7FAFC"/>
                </a:solidFill>
              </a:rPr>
              <a:t>실제 Supabase JWT 검증</a:t>
            </a:r>
          </a:p>
        </p:txBody>
      </p:sp>
      <p:sp>
        <p:nvSpPr>
          <p:cNvPr id="17" name="next-no-1">
            <a:extLst xmlns:a="http://schemas.openxmlformats.org/drawingml/2006/main">
              <a:ext uri="{FF2B5EF4-FFF2-40B4-BE49-F238E27FC236}">
                <a16:creationId xmlns:a16="http://schemas.microsoft.com/office/drawing/2014/main" id="{453C77F0-804C-43F9-8F9E-44C1D82C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385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ECF8E"/>
                </a:solidFill>
              </a:defRPr>
            </a:pPr>
            <a:r>
              <a:rPr sz="1125" b="1">
                <a:solidFill>
                  <a:srgbClr val="3ECF8E"/>
                </a:solidFill>
              </a:rPr>
              <a:t>02</a:t>
            </a:r>
          </a:p>
        </p:txBody>
      </p:sp>
      <p:sp>
        <p:nvSpPr>
          <p:cNvPr id="18" name="next-item-1">
            <a:extLst xmlns:a="http://schemas.openxmlformats.org/drawingml/2006/main">
              <a:ext uri="{FF2B5EF4-FFF2-40B4-BE49-F238E27FC236}">
                <a16:creationId xmlns:a16="http://schemas.microsoft.com/office/drawing/2014/main" id="{1D84F6AD-8B3F-4B16-86CD-74B9B8F1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004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</a:defRPr>
            </a:pPr>
            <a:r>
              <a:rPr sz="1500" b="1">
                <a:solidFill>
                  <a:srgbClr val="F7FAFC"/>
                </a:solidFill>
              </a:rPr>
              <a:t>spring_app Role·RLS 검증</a:t>
            </a:r>
          </a:p>
        </p:txBody>
      </p:sp>
      <p:sp>
        <p:nvSpPr>
          <p:cNvPr id="19" name="next-no-2">
            <a:extLst xmlns:a="http://schemas.openxmlformats.org/drawingml/2006/main">
              <a:ext uri="{FF2B5EF4-FFF2-40B4-BE49-F238E27FC236}">
                <a16:creationId xmlns:a16="http://schemas.microsoft.com/office/drawing/2014/main" id="{47564E21-BCD0-4C45-AD32-3BC6E20F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814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ECF8E"/>
                </a:solidFill>
              </a:defRPr>
            </a:pPr>
            <a:r>
              <a:rPr sz="1125" b="1">
                <a:solidFill>
                  <a:srgbClr val="3ECF8E"/>
                </a:solidFill>
              </a:rPr>
              <a:t>03</a:t>
            </a:r>
          </a:p>
        </p:txBody>
      </p:sp>
      <p:sp>
        <p:nvSpPr>
          <p:cNvPr id="20" name="next-item-2">
            <a:extLst xmlns:a="http://schemas.openxmlformats.org/drawingml/2006/main">
              <a:ext uri="{FF2B5EF4-FFF2-40B4-BE49-F238E27FC236}">
                <a16:creationId xmlns:a16="http://schemas.microsoft.com/office/drawing/2014/main" id="{A5F74AE6-7078-41EA-B946-855AD005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433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</a:defRPr>
            </a:pPr>
            <a:r>
              <a:rPr sz="1500" b="1">
                <a:solidFill>
                  <a:srgbClr val="F7FAFC"/>
                </a:solidFill>
              </a:rPr>
              <a:t>profiles 결과 비교</a:t>
            </a:r>
          </a:p>
        </p:txBody>
      </p:sp>
      <p:sp>
        <p:nvSpPr>
          <p:cNvPr id="21" name="next-no-3">
            <a:extLst xmlns:a="http://schemas.openxmlformats.org/drawingml/2006/main">
              <a:ext uri="{FF2B5EF4-FFF2-40B4-BE49-F238E27FC236}">
                <a16:creationId xmlns:a16="http://schemas.microsoft.com/office/drawing/2014/main" id="{71E9A9D0-197E-494E-9136-DBE755F8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243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ECF8E"/>
                </a:solidFill>
              </a:defRPr>
            </a:pPr>
            <a:r>
              <a:rPr sz="1125" b="1">
                <a:solidFill>
                  <a:srgbClr val="3ECF8E"/>
                </a:solidFill>
              </a:rPr>
              <a:t>04</a:t>
            </a:r>
          </a:p>
        </p:txBody>
      </p:sp>
      <p:sp>
        <p:nvSpPr>
          <p:cNvPr id="22" name="next-item-3">
            <a:extLst xmlns:a="http://schemas.openxmlformats.org/drawingml/2006/main">
              <a:ext uri="{FF2B5EF4-FFF2-40B4-BE49-F238E27FC236}">
                <a16:creationId xmlns:a16="http://schemas.microsoft.com/office/drawing/2014/main" id="{EADBDAA2-6E92-41A7-8191-A8A45853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862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</a:defRPr>
            </a:pPr>
            <a:r>
              <a:rPr sz="1500" b="1">
                <a:solidFill>
                  <a:srgbClr val="F7FAFC"/>
                </a:solidFill>
              </a:rPr>
              <a:t>Flutter Member API 전환</a:t>
            </a:r>
          </a:p>
        </p:txBody>
      </p:sp>
      <p:sp>
        <p:nvSpPr>
          <p:cNvPr id="23" name="closing">
            <a:extLst xmlns:a="http://schemas.openxmlformats.org/drawingml/2006/main">
              <a:ext uri="{FF2B5EF4-FFF2-40B4-BE49-F238E27FC236}">
                <a16:creationId xmlns:a16="http://schemas.microsoft.com/office/drawing/2014/main" id="{1048692B-2824-49E0-B446-01D69995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AFC"/>
                </a:solidFill>
              </a:defRPr>
            </a:pPr>
            <a:r>
              <a:rPr sz="1875" b="1">
                <a:solidFill>
                  <a:srgbClr val="F7FAFC"/>
                </a:solidFill>
              </a:rPr>
              <a:t>기술 교체가 아니라, 운영 가능한 전환 체계를 설계했다.</a:t>
            </a:r>
          </a:p>
        </p:txBody>
      </p:sp>
      <p:sp>
        <p:nvSpPr>
          <p:cNvPr id="24" name="footer-8">
            <a:extLst xmlns:a="http://schemas.openxmlformats.org/drawingml/2006/main">
              <a:ext uri="{FF2B5EF4-FFF2-40B4-BE49-F238E27FC236}">
                <a16:creationId xmlns:a16="http://schemas.microsoft.com/office/drawing/2014/main" id="{8D9646CC-6822-4277-A4BE-8F439101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UDAADAA · BACKEND MIGRATION</a:t>
            </a:r>
          </a:p>
        </p:txBody>
      </p:sp>
      <p:sp>
        <p:nvSpPr>
          <p:cNvPr id="25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08C099A6-A4B8-4D9B-831D-FEA50E4D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A"/>
                </a:solidFill>
              </a:defRPr>
            </a:pPr>
            <a:r>
              <a:rPr sz="825" b="1">
                <a:solidFill>
                  <a:srgbClr val="60708A"/>
                </a:solidFill>
              </a:rPr>
              <a:t>8 / 8</a:t>
            </a:r>
          </a:p>
        </p:txBody>
      </p:sp>
    </p:spTree>
    <p:extLst>
      <p:ext uri="{BB962C8B-B14F-4D97-AF65-F5344CB8AC3E}">
        <p14:creationId xmlns:p14="http://schemas.microsoft.com/office/powerpoint/2010/main" val="4973690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2026-07-29T08:19:45.4100000Z</dcterms:created>
  <dcterms:modified xsi:type="dcterms:W3CDTF">2026-07-29T08:19:45.4100000Z</dcterms:modified>
</coreProperties>
</file>